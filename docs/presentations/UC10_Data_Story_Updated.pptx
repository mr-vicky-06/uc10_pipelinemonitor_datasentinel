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UC10 — Healthcare Data Pipeline Reliability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Claims + Pharmacy Data → Features → Hybrid Anomaly Detection</a:t>
            </a:r>
          </a:p>
        </p:txBody>
      </p:sp>
      <p:pic>
        <p:nvPicPr>
          <p:cNvPr id="4" name="Picture 3" descr="healthcare_network_1786703790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114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Our Core Healthcare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36576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6400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1. Beneficiary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Purpose:</a:t>
            </a:r>
            <a:br/>
            <a:r>
              <a:t>Provides common identity and demographic backbone.</a:t>
            </a:r>
            <a:br/>
            <a:br/>
            <a:r>
              <a:t>Key concept:</a:t>
            </a:r>
            <a:br/>
            <a:r>
              <a:t>• BENE_ID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371600"/>
            <a:ext cx="2560320" cy="36576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2. FFS Inpatient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Purpose:</a:t>
            </a:r>
            <a:br/>
            <a:r>
              <a:t>Represents healthcare service activity.</a:t>
            </a:r>
            <a:br/>
            <a:br/>
            <a:r>
              <a:t>Key concepts:</a:t>
            </a:r>
            <a:br/>
            <a:r>
              <a:t>• Claim / Claim line</a:t>
            </a:r>
            <a:br/>
            <a:r>
              <a:t>• Service date</a:t>
            </a:r>
            <a:br/>
            <a:r>
              <a:t>• Provider</a:t>
            </a:r>
            <a:br/>
            <a:r>
              <a:t>• Claim amount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2560320" cy="36576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solidFill>
            <a:srgbClr val="800080"/>
          </a:solidFill>
          <a:ln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3. PDE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Purpose:</a:t>
            </a:r>
            <a:br/>
            <a:r>
              <a:t>Represents prescription drug events.</a:t>
            </a:r>
            <a:br/>
            <a:br/>
            <a:r>
              <a:t>Key concepts:</a:t>
            </a:r>
            <a:br/>
            <a:r>
              <a:t>• Prescription event</a:t>
            </a:r>
            <a:br/>
            <a:r>
              <a:t>• Beneficiary</a:t>
            </a:r>
            <a:br/>
            <a:r>
              <a:t>• Service date</a:t>
            </a:r>
            <a:br/>
            <a:r>
              <a:t>• Drug &amp; Cost fields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The Relationship Between the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323232"/>
                </a:solidFill>
              </a:defRPr>
            </a:pPr>
            <a:r>
              <a:t>                    BENEFICIARY (BENE_ID)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                                 │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                  ┌─────────┴─────────┐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                  │                                  │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                  ▼                                 ▼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       FFS CLAIMS                        PDE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       (Claim Lines)                     (Drug Events)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Verified Facts: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• Claims → Beneficiary = 100% match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• PDE → Beneficiary = 100% match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• 5,098 beneficiaries have overlapping activity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IMPORTANT: We do NOT force Claims ↔ PDE directly. We connect both through the common Beneficiary layer.</a:t>
            </a:r>
          </a:p>
        </p:txBody>
      </p:sp>
      <p:pic>
        <p:nvPicPr>
          <p:cNvPr id="4" name="Picture 3" descr="healthcare_network_1786703790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Each Dataset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323232"/>
                </a:solidFill>
              </a:defRPr>
            </a:pPr>
            <a:r>
              <a:t>Beneficiary  →  "WHO"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Claims         →  "WHAT MEDICAL ACTIVITY"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PDE            →  "WHAT PHARMACY ACTIVITY"</a:t>
            </a:r>
          </a:p>
          <a:p>
            <a:pPr algn="l">
              <a:defRPr sz="1800">
                <a:solidFill>
                  <a:srgbClr val="323232"/>
                </a:solidFill>
              </a:defRPr>
            </a:pPr>
          </a:p>
          <a:p>
            <a:pPr algn="l">
              <a:defRPr sz="1800">
                <a:solidFill>
                  <a:srgbClr val="323232"/>
                </a:solidFill>
              </a:defRPr>
            </a:pPr>
            <a:r>
              <a:t>These three pillars allow us to monitor the holistic patient journey and immediately detect when a specific pipeline (medical vs. pharmacy) stops delivering expected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114800"/>
            <a:ext cx="2286000" cy="18288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2286000" cy="6400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Beneficiary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Identity &amp; Relationship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4114800"/>
            <a:ext cx="2286000" cy="18288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4114800"/>
            <a:ext cx="2286000" cy="64008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FFS Claims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Claims Volume &amp;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4114800"/>
            <a:ext cx="2286000" cy="18288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4114800"/>
            <a:ext cx="2286000" cy="640080"/>
          </a:xfrm>
          <a:prstGeom prst="rect">
            <a:avLst/>
          </a:prstGeom>
          <a:solidFill>
            <a:srgbClr val="800080"/>
          </a:solidFill>
          <a:ln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Pharmacy Volume &amp;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Turning Healthcare Records into Monitoring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23232"/>
                </a:solidFill>
              </a:defRPr>
            </a:pPr>
            <a:r>
              <a:t>Examples of the 18 Curated ML Features (Aggregated Daily):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• Claims: claim_count, unique_beneficiary_count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• PDE: pde_count, unique_provider_count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• Data Quality: null_rate, duplicate_rate, dq_violation_rate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• Cross-Dataset: claim_pde_ratio, cross_dataset_mismatch_rate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• Behavior: volume_change_pct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• Operational*: processing_duration, throughput, failure_rate, backlog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* Note: Operational metrics are currently simulated for the MVP prototype.</a:t>
            </a:r>
          </a:p>
        </p:txBody>
      </p:sp>
      <p:pic>
        <p:nvPicPr>
          <p:cNvPr id="4" name="Picture 3" descr="data_pipeline_17867038776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Which Features Support Which Detection?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6400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null_rate</a:t>
            </a:r>
            <a:br/>
            <a:r>
              <a:t>duplicate_rate</a:t>
            </a:r>
            <a:br/>
            <a:r>
              <a:t>dq_violation_rate</a:t>
            </a:r>
            <a:br/>
            <a:br/>
            <a:r>
              <a:t>↓</a:t>
            </a:r>
            <a:br/>
            <a:br/>
            <a:r>
              <a:t>RULES</a:t>
            </a:r>
            <a:br/>
            <a:r>
              <a:t>"Is the data invalid?"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371600"/>
            <a:ext cx="2560320" cy="32004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solidFill>
            <a:srgbClr val="FF8C00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0312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volume_change</a:t>
            </a:r>
            <a:br/>
            <a:r>
              <a:t>pde_count</a:t>
            </a:r>
            <a:br/>
            <a:r>
              <a:t>claim_count</a:t>
            </a:r>
            <a:br/>
            <a:br/>
            <a:r>
              <a:t>↓</a:t>
            </a:r>
            <a:br/>
            <a:br/>
            <a:r>
              <a:t>Rolling Median + MAD</a:t>
            </a:r>
            <a:br/>
            <a:r>
              <a:t>"Is today's behavior unusual?"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RELATIONSHIP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claim_pde_ratio</a:t>
            </a:r>
            <a:br/>
            <a:r>
              <a:t>mismatch_rate</a:t>
            </a:r>
            <a:br/>
            <a:r>
              <a:t>beneficiary_links</a:t>
            </a:r>
            <a:br/>
            <a:br/>
            <a:r>
              <a:t>↓</a:t>
            </a:r>
            <a:br/>
            <a:br/>
            <a:r>
              <a:t>ISOLATION FOREST</a:t>
            </a:r>
            <a:br/>
            <a:r>
              <a:t>"Is the combination unusual?"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a Hybrid Detection Approach?</a:t>
            </a:r>
          </a:p>
        </p:txBody>
      </p:sp>
      <p:pic>
        <p:nvPicPr>
          <p:cNvPr id="3" name="Picture 2" descr="anomaly_dashboard_17867039489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23232"/>
                </a:solidFill>
              </a:defRPr>
            </a:pPr>
            <a:r>
              <a:t>1. Rule-Based DQ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Detects explicit violations (Missing values, Duplicates, Invalid dates, Referential failures).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2. Rolling Median + MAD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Detects unusual temporal behavior (Volume drops/spikes, unusual rates).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3. Isolation Forest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Detects unusual combinations (e.g. Volume ↑ AND Throughput ↓).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Explicit errors + Statistical deviation + Multivariate behavior = Stronger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Example: How One Anomaly Travels Through the System</a:t>
            </a:r>
          </a:p>
        </p:txBody>
      </p:sp>
      <p:pic>
        <p:nvPicPr>
          <p:cNvPr id="3" name="Picture 2" descr="evidence_fusion_1786703993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23232"/>
                </a:solidFill>
              </a:defRPr>
            </a:pPr>
            <a:r>
              <a:t>Normal: PDE volume ≈ historical baseline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        ↓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Today: PDE volume drops 40%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        ↓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Rolling Median + MAD → Statistical anomaly detected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        ↓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Cross-dataset metrics → Additional context added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        ↓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Evidence Fusion → HIGH-SEVERITY EVENT triggered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        ↓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RCA → Impact → SLA Risk evaluated</a:t>
            </a:r>
          </a:p>
          <a:p>
            <a:pPr algn="l">
              <a:defRPr sz="1600">
                <a:solidFill>
                  <a:srgbClr val="323232"/>
                </a:solidFill>
              </a:defRPr>
            </a:pPr>
          </a:p>
          <a:p>
            <a:pPr algn="l">
              <a:defRPr sz="1600">
                <a:solidFill>
                  <a:srgbClr val="323232"/>
                </a:solidFill>
              </a:defRPr>
            </a:pPr>
            <a:r>
              <a:t>* We flag this as a 'Potential RCA' without confirming root cause until verified.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From Healthcare Data to an Actionable Anomaly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23232"/>
                </a:solidFill>
              </a:defRPr>
            </a:pPr>
            <a:r>
              <a:t>CMS Beneficiary / Claims / PDE  →  Preprocessing  →  Data Quality  →  Feature Engineering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                                                                     ↓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                                                      ┌───────────────────────┐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                                                      │ HYBRID DETECTION      │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                                                      │ • DQ Rules            │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                                                      │ • MAD                 │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                                                      │ • Isolation Forest    │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                                                      └─────────┬─────────────┘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                                                                     ↓</a:t>
            </a:r>
          </a:p>
          <a:p>
            <a:pPr algn="ctr">
              <a:defRPr sz="1400">
                <a:solidFill>
                  <a:srgbClr val="323232"/>
                </a:solidFill>
              </a:defRPr>
            </a:pPr>
            <a:r>
              <a:t>       Verification  ←  Recommended Action  ←  RCA + Impact + SLA  ←  Anomaly Assessment  ←  Evidence Fusion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Current Status &amp; Next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1148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840480" cy="640080"/>
          </a:xfrm>
          <a:prstGeom prst="rect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✓ Dataset Validation (100% matches, 5,098 overlapping BENE_IDs)</a:t>
            </a:r>
            <a:br/>
            <a:r>
              <a:t>✓ Feature Engineering (2,922 daily windows, 18 curated ML features)</a:t>
            </a:r>
            <a:br/>
            <a:r>
              <a:t>✓ Rule-Based DQ (0 clean-baseline violations)</a:t>
            </a:r>
            <a:br/>
            <a:r>
              <a:t>✓ Statistical Detection (Successfully detected controlled volume anomaly)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371600"/>
            <a:ext cx="4114800" cy="411480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4114800" cy="6400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CURRENT &amp;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4114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CURRENT:</a:t>
            </a:r>
            <a:br/>
            <a:r>
              <a:t>→ Isolation Forest</a:t>
            </a:r>
            <a:br/>
            <a:br/>
            <a:r>
              <a:t>NEXT:</a:t>
            </a:r>
            <a:br/>
            <a:r>
              <a:t>→ Evidence Fusion</a:t>
            </a:r>
            <a:br/>
            <a:r>
              <a:t>→ RCA / Impact / SLA</a:t>
            </a:r>
            <a:br/>
            <a:r>
              <a:t>→ RAG Assistant</a:t>
            </a:r>
            <a:br/>
            <a:r>
              <a:t>→ Remediation /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