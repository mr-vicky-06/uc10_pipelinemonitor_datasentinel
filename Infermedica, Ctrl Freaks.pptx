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300" r:id="rId2"/>
    <p:sldId id="282" r:id="rId3"/>
    <p:sldId id="284" r:id="rId4"/>
    <p:sldId id="292" r:id="rId5"/>
    <p:sldId id="281" r:id="rId6"/>
    <p:sldId id="286" r:id="rId7"/>
    <p:sldId id="293" r:id="rId8"/>
    <p:sldId id="271" r:id="rId9"/>
    <p:sldId id="278" r:id="rId10"/>
    <p:sldId id="291" r:id="rId11"/>
    <p:sldId id="307" r:id="rId12"/>
    <p:sldId id="306" r:id="rId13"/>
    <p:sldId id="299" r:id="rId14"/>
    <p:sldId id="294" r:id="rId15"/>
    <p:sldId id="295" r:id="rId16"/>
    <p:sldId id="288" r:id="rId17"/>
    <p:sldId id="266" r:id="rId18"/>
    <p:sldId id="304" r:id="rId19"/>
    <p:sldId id="275" r:id="rId20"/>
    <p:sldId id="272" r:id="rId21"/>
    <p:sldId id="259" r:id="rId22"/>
    <p:sldId id="273" r:id="rId23"/>
    <p:sldId id="274" r:id="rId24"/>
    <p:sldId id="277" r:id="rId25"/>
    <p:sldId id="276" r:id="rId26"/>
  </p:sldIdLst>
  <p:sldSz cx="18288000" cy="10287000"/>
  <p:notesSz cx="6858000" cy="9144000"/>
  <p:embeddedFontLst>
    <p:embeddedFont>
      <p:font typeface="Andalus" panose="02020603050405020304" pitchFamily="18" charset="-78"/>
      <p:regular r:id="rId28"/>
    </p:embeddedFont>
    <p:embeddedFont>
      <p:font typeface="Antonio Ultra-Bold" panose="020B0604020202020204" charset="0"/>
      <p:regular r:id="rId29"/>
    </p:embeddedFont>
    <p:embeddedFont>
      <p:font typeface="Aparajita" panose="02020603050405020304" pitchFamily="18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Garamond" panose="02020404030301010803" pitchFamily="18" charset="0"/>
      <p:regular r:id="rId38"/>
      <p:bold r:id="rId39"/>
      <p:italic r:id="rId40"/>
    </p:embeddedFont>
    <p:embeddedFont>
      <p:font typeface="Hero" panose="020B0604020202020204" charset="0"/>
      <p:regular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E11C0F-7BA7-47FD-B589-813D67CAE35E}">
          <p14:sldIdLst>
            <p14:sldId id="300"/>
            <p14:sldId id="282"/>
            <p14:sldId id="284"/>
            <p14:sldId id="292"/>
            <p14:sldId id="281"/>
            <p14:sldId id="286"/>
            <p14:sldId id="293"/>
            <p14:sldId id="271"/>
            <p14:sldId id="278"/>
            <p14:sldId id="291"/>
            <p14:sldId id="307"/>
            <p14:sldId id="306"/>
            <p14:sldId id="299"/>
            <p14:sldId id="294"/>
            <p14:sldId id="295"/>
            <p14:sldId id="288"/>
            <p14:sldId id="266"/>
            <p14:sldId id="304"/>
            <p14:sldId id="275"/>
            <p14:sldId id="272"/>
            <p14:sldId id="259"/>
            <p14:sldId id="273"/>
            <p14:sldId id="274"/>
            <p14:sldId id="277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vedha Palaniappan" initials="NP" lastIdx="1" clrIdx="0">
    <p:extLst>
      <p:ext uri="{19B8F6BF-5375-455C-9EA6-DF929625EA0E}">
        <p15:presenceInfo xmlns:p15="http://schemas.microsoft.com/office/powerpoint/2012/main" userId="767528f81f95145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005" autoAdjust="0"/>
  </p:normalViewPr>
  <p:slideViewPr>
    <p:cSldViewPr>
      <p:cViewPr>
        <p:scale>
          <a:sx n="50" d="100"/>
          <a:sy n="50" d="100"/>
        </p:scale>
        <p:origin x="1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250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EB82A-FE6B-4333-BC69-E122815AB46F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DE6BF-A9D7-44F1-88BA-2CAE044CF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adaiyappan.theivarayan@cognizant.co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png"/><Relationship Id="rId5" Type="http://schemas.openxmlformats.org/officeDocument/2006/relationships/image" Target="../media/image6.svg"/><Relationship Id="rId10" Type="http://schemas.openxmlformats.org/officeDocument/2006/relationships/image" Target="../media/image15.jpe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10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sv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sv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svg"/><Relationship Id="rId7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6.svg"/><Relationship Id="rId10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4.svg"/><Relationship Id="rId7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9Vcbaonlbc26P7dHzhifw77npldTG2DJ/view?usp=sharing" TargetMode="External"/><Relationship Id="rId3" Type="http://schemas.openxmlformats.org/officeDocument/2006/relationships/image" Target="../media/image4.svg"/><Relationship Id="rId7" Type="http://schemas.openxmlformats.org/officeDocument/2006/relationships/hyperlink" Target="https://github.com/PrathiPriya/Infermedica.gi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7D7A3B-735B-4A06-983C-E3C198DE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004" y="25400"/>
            <a:ext cx="10570996" cy="1026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4532B5-D527-4B96-994C-413A632A5EBF}"/>
              </a:ext>
            </a:extLst>
          </p:cNvPr>
          <p:cNvSpPr txBox="1"/>
          <p:nvPr/>
        </p:nvSpPr>
        <p:spPr>
          <a:xfrm>
            <a:off x="465304" y="2988126"/>
            <a:ext cx="7327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>
                <a:solidFill>
                  <a:srgbClr val="000000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​</a:t>
            </a:r>
            <a:r>
              <a:rPr lang="en-US" sz="4800" b="0" i="0" strike="noStrike" dirty="0">
                <a:solidFill>
                  <a:srgbClr val="17375E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Patient Health record assistant to enable easy </a:t>
            </a:r>
          </a:p>
          <a:p>
            <a:r>
              <a:rPr lang="en-US" sz="4800" b="0" i="0" strike="noStrike" dirty="0">
                <a:solidFill>
                  <a:srgbClr val="17375E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retrieval of data from </a:t>
            </a:r>
          </a:p>
          <a:p>
            <a:r>
              <a:rPr lang="en-US" sz="4800" b="0" i="0" strike="noStrike" dirty="0">
                <a:solidFill>
                  <a:srgbClr val="17375E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complex JSON files</a:t>
            </a:r>
            <a:r>
              <a:rPr lang="en-US" sz="4800" b="0" i="0" dirty="0">
                <a:solidFill>
                  <a:srgbClr val="000000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​.</a:t>
            </a:r>
            <a:endParaRPr lang="en-US" sz="41300" dirty="0">
              <a:solidFill>
                <a:schemeClr val="accent1">
                  <a:lumMod val="7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45792518-E43B-40C7-A7F7-B9D531D4C939}"/>
              </a:ext>
            </a:extLst>
          </p:cNvPr>
          <p:cNvGrpSpPr/>
          <p:nvPr/>
        </p:nvGrpSpPr>
        <p:grpSpPr>
          <a:xfrm>
            <a:off x="0" y="6740282"/>
            <a:ext cx="8556088" cy="690416"/>
            <a:chOff x="0" y="0"/>
            <a:chExt cx="2389153" cy="301500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AF5FEAD-7156-434A-B1A2-050EB41E3429}"/>
                </a:ext>
              </a:extLst>
            </p:cNvPr>
            <p:cNvSpPr/>
            <p:nvPr/>
          </p:nvSpPr>
          <p:spPr>
            <a:xfrm>
              <a:off x="0" y="0"/>
              <a:ext cx="2389153" cy="301500"/>
            </a:xfrm>
            <a:custGeom>
              <a:avLst/>
              <a:gdLst/>
              <a:ahLst/>
              <a:cxnLst/>
              <a:rect l="l" t="t" r="r" b="b"/>
              <a:pathLst>
                <a:path w="2389153" h="301500">
                  <a:moveTo>
                    <a:pt x="0" y="0"/>
                  </a:moveTo>
                  <a:lnTo>
                    <a:pt x="2389153" y="0"/>
                  </a:lnTo>
                  <a:lnTo>
                    <a:pt x="2389153" y="301500"/>
                  </a:lnTo>
                  <a:lnTo>
                    <a:pt x="0" y="301500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E78451BD-8B16-4B08-AFE6-EA7CB91B3EB4}"/>
                </a:ext>
              </a:extLst>
            </p:cNvPr>
            <p:cNvSpPr txBox="1"/>
            <p:nvPr/>
          </p:nvSpPr>
          <p:spPr>
            <a:xfrm>
              <a:off x="0" y="-38100"/>
              <a:ext cx="2389153" cy="339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221F7FD-67A2-4F4D-B1FA-691B4E463D90}"/>
              </a:ext>
            </a:extLst>
          </p:cNvPr>
          <p:cNvSpPr txBox="1"/>
          <p:nvPr/>
        </p:nvSpPr>
        <p:spPr>
          <a:xfrm>
            <a:off x="585954" y="7981686"/>
            <a:ext cx="6629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Team Name : CTRL FREAKS</a:t>
            </a:r>
            <a:endParaRPr lang="en-US" sz="3600" b="1" dirty="0">
              <a:solidFill>
                <a:schemeClr val="accent1">
                  <a:lumMod val="50000"/>
                </a:schemeClr>
              </a:solidFill>
              <a:latin typeface="Andalus" panose="02020603050405020304" pitchFamily="18" charset="-78"/>
              <a:ea typeface="Hero"/>
              <a:cs typeface="Andalus" panose="02020603050405020304" pitchFamily="18" charset="-78"/>
              <a:sym typeface="Hero"/>
            </a:endParaRPr>
          </a:p>
          <a:p>
            <a:pPr algn="l" rtl="0" fontAlgn="base"/>
            <a:r>
              <a:rPr lang="en-US" sz="36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Team No: 4</a:t>
            </a:r>
            <a:r>
              <a:rPr lang="en-US" sz="3600" b="0" i="0" dirty="0">
                <a:solidFill>
                  <a:schemeClr val="tx2">
                    <a:lumMod val="75000"/>
                  </a:schemeClr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​</a:t>
            </a:r>
          </a:p>
          <a:p>
            <a:pPr algn="l" rtl="0" fontAlgn="base"/>
            <a:r>
              <a:rPr lang="en-US" sz="36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RMKEC</a:t>
            </a:r>
            <a:endParaRPr lang="en-US" sz="3600" b="0" i="0" dirty="0">
              <a:solidFill>
                <a:schemeClr val="tx2">
                  <a:lumMod val="75000"/>
                </a:schemeClr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D1A55C-4C98-4D45-BCE7-07502074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150198"/>
            <a:ext cx="5791200" cy="140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7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CA99A5-5367-4EB2-AA98-4BD032CAF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113001"/>
              </p:ext>
            </p:extLst>
          </p:nvPr>
        </p:nvGraphicFramePr>
        <p:xfrm>
          <a:off x="393700" y="1181100"/>
          <a:ext cx="17449800" cy="6976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46047446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14870875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7644718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340280173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772087049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3681012576"/>
                    </a:ext>
                  </a:extLst>
                </a:gridCol>
              </a:tblGrid>
              <a:tr h="1305746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 Members​</a:t>
                      </a:r>
                      <a:endParaRPr lang="en-US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 ​</a:t>
                      </a:r>
                    </a:p>
                    <a:p>
                      <a:pPr algn="l" rtl="0"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mail Id​</a:t>
                      </a:r>
                      <a:endParaRPr lang="en-US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Faculty ​</a:t>
                      </a:r>
                    </a:p>
                    <a:p>
                      <a:pPr algn="l" rtl="0"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Mentor​</a:t>
                      </a:r>
                      <a:endParaRPr lang="en-US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Mentor </a:t>
                      </a:r>
                    </a:p>
                    <a:p>
                      <a:pPr algn="l" rtl="0"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mail Id​</a:t>
                      </a:r>
                      <a:endParaRPr lang="en-US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Cognizant ​</a:t>
                      </a:r>
                    </a:p>
                    <a:p>
                      <a:pPr algn="l" rtl="0" fontAlgn="base"/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Mentor name​</a:t>
                      </a:r>
                      <a:endParaRPr lang="en-US" sz="2400" b="1" i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Cognizant Mentor mail Id​</a:t>
                      </a:r>
                      <a:endParaRPr lang="en-US" sz="2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180393"/>
                  </a:ext>
                </a:extLst>
              </a:tr>
              <a:tr h="93267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Prathiksha K​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prat21206.ad@rmkec.ac.in​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rtl="0" fontAlgn="auto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endParaRPr lang="en-US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Srijayanthi S​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 Ani Minesha​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rtl="0" fontAlgn="auto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endParaRPr lang="en-US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ssj.ad@rmkec.ac.in​</a:t>
                      </a:r>
                    </a:p>
                    <a:p>
                      <a:pPr algn="l" rtl="0" fontAlgn="base"/>
                      <a:endParaRPr lang="en-US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endParaRPr lang="en-US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endParaRPr lang="en-US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ram.ad@rmkec.ac.in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rtl="0" fontAlgn="auto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endParaRPr lang="en-US" sz="20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 Sadaiyappan Theivarayan​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Ms. Sathya Prabha ​</a:t>
                      </a:r>
                    </a:p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Nanjundamoorthy​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rtl="0" fontAlgn="auto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endParaRPr lang="en-US" sz="2000" b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  <a:p>
                      <a:pPr algn="l" rtl="0" fontAlgn="base"/>
                      <a:r>
                        <a:rPr lang="en-US" sz="2000" b="0" u="sng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sadaiyappan.theivarayan@cognizant.com</a:t>
                      </a:r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/>
                      <a:r>
                        <a:rPr lang="en-US" sz="2000" b="0" u="sng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sathyaprabha.nanjundamoorthy@cognizant.com​</a:t>
                      </a:r>
                      <a:endParaRPr lang="en-US" sz="2000" b="0" i="0" u="sng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909267"/>
                  </a:ext>
                </a:extLst>
              </a:tr>
              <a:tr h="1007286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Meeniga Akhila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meen21126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.ad@rmkec.ac.in​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118344"/>
                  </a:ext>
                </a:extLst>
              </a:tr>
              <a:tr h="93267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Nivedha P</a:t>
                      </a: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nive21204.ad@rmkec.ac.in​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56931"/>
                  </a:ext>
                </a:extLst>
              </a:tr>
              <a:tr h="93267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Tamizh Malar S G​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tami21218.ad@rmkec.ac.in​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255715"/>
                  </a:ext>
                </a:extLst>
              </a:tr>
              <a:tr h="93267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Varsha S​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vars21223.ad@rmkec.ac.in​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127722"/>
                  </a:ext>
                </a:extLst>
              </a:tr>
              <a:tr h="932675">
                <a:tc>
                  <a:txBody>
                    <a:bodyPr/>
                    <a:lstStyle/>
                    <a:p>
                      <a:pPr algn="l" rtl="0" fontAlgn="base">
                        <a:buFont typeface="Arial" panose="020B0604020202020204" pitchFamily="34" charset="0"/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Jaya Bharathi J​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0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jayale221805.ad@rmkec.ac.in​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488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9C80FDA-3828-4F0C-9E65-0DCB4A85DDD7}"/>
              </a:ext>
            </a:extLst>
          </p:cNvPr>
          <p:cNvSpPr txBox="1"/>
          <p:nvPr/>
        </p:nvSpPr>
        <p:spPr>
          <a:xfrm>
            <a:off x="685800" y="8386108"/>
            <a:ext cx="457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400" b="1" i="0" dirty="0">
                <a:solidFill>
                  <a:srgbClr val="000048"/>
                </a:solidFill>
                <a:effectLst/>
                <a:latin typeface="Garamond" panose="02020404030301010803" pitchFamily="18" charset="0"/>
              </a:rPr>
              <a:t>Team details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1" i="0" u="none" strike="noStrike" dirty="0">
                <a:solidFill>
                  <a:srgbClr val="000048"/>
                </a:solidFill>
                <a:effectLst/>
                <a:latin typeface="Garamond" panose="02020404030301010803" pitchFamily="18" charset="0"/>
              </a:rPr>
              <a:t>•Team Name – Ctrl Freaks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1" i="0" u="none" strike="noStrike" dirty="0">
                <a:solidFill>
                  <a:srgbClr val="000048"/>
                </a:solidFill>
                <a:effectLst/>
                <a:latin typeface="Garamond" panose="02020404030301010803" pitchFamily="18" charset="0"/>
              </a:rPr>
              <a:t>•Team No – 4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1" i="0" u="none" strike="noStrike" dirty="0">
                <a:solidFill>
                  <a:srgbClr val="000048"/>
                </a:solidFill>
                <a:effectLst/>
                <a:latin typeface="Garamond" panose="02020404030301010803" pitchFamily="18" charset="0"/>
              </a:rPr>
              <a:t>• RMKEC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9549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5829EEF-5C77-44C0-9577-E7852E87B03D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8D7027C-8564-4DF2-ADDE-E285016D1B2F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E2744C6-27C1-45DA-A34E-EAB423290C0C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075C0EFD-3A09-4C6D-8361-BB647755D1A4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040577BC-29F5-4A60-BEF2-0F65A234521D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6FCACAC4-FA25-4AF8-9BA1-CA3C4D3A8A4B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32089B8C-E9C7-4219-B691-D84AA5DD94D5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F80B90D-D746-4E80-AFD7-042234D5E77F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987D0468-2A12-4A8A-A6B8-5278B52D42BE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B8038425-AE09-4108-B57B-1B6BFC096724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18CB1B03-C558-456D-AD50-30977A3341FB}"/>
              </a:ext>
            </a:extLst>
          </p:cNvPr>
          <p:cNvSpPr txBox="1"/>
          <p:nvPr/>
        </p:nvSpPr>
        <p:spPr>
          <a:xfrm>
            <a:off x="1170882" y="-370238"/>
            <a:ext cx="15157626" cy="1387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Antonio Ultra-Bold" panose="020B0604020202020204" charset="0"/>
              </a:rPr>
              <a:t>Challenge Specification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Antonio Ultra-Bold" panose="020B0604020202020204" charset="0"/>
              <a:ea typeface="Antonio Ultra-Bold"/>
              <a:cs typeface="Antonio Ultra-Bold"/>
              <a:sym typeface="Antonio Ultra-Bold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33655087-7C52-42FF-9E5A-9119C0CD2BDC}"/>
              </a:ext>
            </a:extLst>
          </p:cNvPr>
          <p:cNvSpPr/>
          <p:nvPr/>
        </p:nvSpPr>
        <p:spPr>
          <a:xfrm>
            <a:off x="179184" y="3662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CCE729EA-3390-4EA8-A022-EC739AD1E656}"/>
              </a:ext>
            </a:extLst>
          </p:cNvPr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FA78AF-568C-4198-A1C8-68DBB7B43D89}"/>
              </a:ext>
            </a:extLst>
          </p:cNvPr>
          <p:cNvSpPr txBox="1"/>
          <p:nvPr/>
        </p:nvSpPr>
        <p:spPr>
          <a:xfrm>
            <a:off x="883934" y="2066272"/>
            <a:ext cx="3923132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rtl="0" fontAlgn="base"/>
            <a:r>
              <a:rPr lang="en-US" sz="24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JSON Data</a:t>
            </a:r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Simplifying access to highly complex and nested medical records stored in JSON format.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10DA54-D4C3-4835-91B4-18DCF9D098E3}"/>
              </a:ext>
            </a:extLst>
          </p:cNvPr>
          <p:cNvSpPr txBox="1"/>
          <p:nvPr/>
        </p:nvSpPr>
        <p:spPr>
          <a:xfrm>
            <a:off x="8999066" y="2029788"/>
            <a:ext cx="41148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rtl="0" fontAlgn="base"/>
            <a:r>
              <a:rPr lang="en-US" sz="24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fontAlgn="base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seamless integration and accurate retrieval from our JSON format data is challenging.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928C78-8112-4AC7-958B-8304EC875179}"/>
              </a:ext>
            </a:extLst>
          </p:cNvPr>
          <p:cNvSpPr txBox="1"/>
          <p:nvPr/>
        </p:nvSpPr>
        <p:spPr>
          <a:xfrm>
            <a:off x="5456508" y="6918517"/>
            <a:ext cx="3767657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rtl="0" fontAlgn="base"/>
            <a:r>
              <a:rPr lang="en-US" sz="24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Accuracy</a:t>
            </a:r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Translating natural language queries into precise database queries accurately.</a:t>
            </a:r>
            <a:endParaRPr lang="en-US" sz="2400" b="0" i="0" u="none" strike="noStrike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65A53-5D90-41F4-B4BE-15DE963EC110}"/>
              </a:ext>
            </a:extLst>
          </p:cNvPr>
          <p:cNvSpPr txBox="1"/>
          <p:nvPr/>
        </p:nvSpPr>
        <p:spPr>
          <a:xfrm>
            <a:off x="13978645" y="6641813"/>
            <a:ext cx="3542132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an intuitive interface for healthcare providers, insurers, and patients.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A54880-61E7-479D-B2D1-756C50C3ACA5}"/>
              </a:ext>
            </a:extLst>
          </p:cNvPr>
          <p:cNvSpPr/>
          <p:nvPr/>
        </p:nvSpPr>
        <p:spPr>
          <a:xfrm>
            <a:off x="624102" y="5143500"/>
            <a:ext cx="17663894" cy="358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A27144E-3AE8-4ED2-82FD-CD976E5CBE9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778"/>
          <a:stretch/>
        </p:blipFill>
        <p:spPr>
          <a:xfrm>
            <a:off x="1679232" y="4340274"/>
            <a:ext cx="1612902" cy="1606451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2" name="Picture 6" descr="Natural language processing - Free communications icons">
            <a:extLst>
              <a:ext uri="{FF2B5EF4-FFF2-40B4-BE49-F238E27FC236}">
                <a16:creationId xmlns:a16="http://schemas.microsoft.com/office/drawing/2014/main" id="{31D1E8E2-7DFC-4CD2-BC89-C952428C6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464" y="4461858"/>
            <a:ext cx="1606451" cy="160645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User experience - Free electronics icons">
            <a:extLst>
              <a:ext uri="{FF2B5EF4-FFF2-40B4-BE49-F238E27FC236}">
                <a16:creationId xmlns:a16="http://schemas.microsoft.com/office/drawing/2014/main" id="{503114EC-1450-43D5-8D0C-BAC1E8745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7022" y="4340273"/>
            <a:ext cx="1606452" cy="1606452"/>
          </a:xfrm>
          <a:prstGeom prst="ellipse">
            <a:avLst/>
          </a:prstGeom>
          <a:ln w="3175" cap="rnd">
            <a:solidFill>
              <a:srgbClr val="E6E6E6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System Integration Icon Images – Browse 28,353 Stock Photos, Vectors, and  Video | Adobe Stock">
            <a:extLst>
              <a:ext uri="{FF2B5EF4-FFF2-40B4-BE49-F238E27FC236}">
                <a16:creationId xmlns:a16="http://schemas.microsoft.com/office/drawing/2014/main" id="{2931C2F8-C35A-4AF8-A013-178690D51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3241" y="4286301"/>
            <a:ext cx="1606451" cy="1606451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832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FD172C0-FF5A-4A9D-893D-303127AB6344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A31E3E7-BA3F-4570-AD79-FE0E3AA1512C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9637471-6B5C-47C4-B969-CCBBDDC3143D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9630A70F-4C93-43D2-83ED-671BB7D66C93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077B70E-00DE-4E5B-9378-D5410F3DD564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4DBE4EAA-A05D-4580-80F6-0EA9E23D0D5C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9506CA2D-E40A-48D8-A3E5-F78B56FC1711}"/>
              </a:ext>
            </a:extLst>
          </p:cNvPr>
          <p:cNvGrpSpPr/>
          <p:nvPr/>
        </p:nvGrpSpPr>
        <p:grpSpPr>
          <a:xfrm rot="-5400000">
            <a:off x="8831949" y="6151480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84263BC-31E3-46EF-B4C9-ABD91B6971D4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5A5393EC-C78A-466E-8694-4287D04E0695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5386250E-04C4-4592-8645-D97EBD8646BF}"/>
              </a:ext>
            </a:extLst>
          </p:cNvPr>
          <p:cNvSpPr txBox="1"/>
          <p:nvPr/>
        </p:nvSpPr>
        <p:spPr>
          <a:xfrm>
            <a:off x="1148095" y="-161255"/>
            <a:ext cx="4189719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Antonio Ultra-Bold" panose="020B0604020202020204" charset="0"/>
              </a:rPr>
              <a:t>Action Plan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Antonio Ultra-Bold" panose="020B0604020202020204" charset="0"/>
              <a:ea typeface="Antonio Ultra-Bold"/>
              <a:cs typeface="Antonio Ultra-Bold"/>
              <a:sym typeface="Antonio Ultra-Bold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CE423C3C-2027-4962-A03D-4DAAC94DB4F9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DBF261DF-9E8A-4EFF-9D83-57BE00AE8309}"/>
              </a:ext>
            </a:extLst>
          </p:cNvPr>
          <p:cNvSpPr/>
          <p:nvPr/>
        </p:nvSpPr>
        <p:spPr>
          <a:xfrm>
            <a:off x="16465813" y="126391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2" descr="Providers concept icon. Health plan. Treatment and medical services.  Primary care physician. Health care provider idea thin line illustration.  Vector isolated outline drawing. Editable stroke 5174753 Vector Art at  Vecteezy">
            <a:extLst>
              <a:ext uri="{FF2B5EF4-FFF2-40B4-BE49-F238E27FC236}">
                <a16:creationId xmlns:a16="http://schemas.microsoft.com/office/drawing/2014/main" id="{8377F7A3-6C03-487D-AAB2-38C2492F1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7" t="8518" r="14414" b="25817"/>
          <a:stretch/>
        </p:blipFill>
        <p:spPr bwMode="auto">
          <a:xfrm>
            <a:off x="7861126" y="4011375"/>
            <a:ext cx="3088993" cy="2866977"/>
          </a:xfrm>
          <a:prstGeom prst="ellipse">
            <a:avLst/>
          </a:prstGeom>
          <a:ln w="28575" cap="rnd">
            <a:solidFill>
              <a:schemeClr val="accent1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D5D00B7-827D-4D28-9ED9-9A4BECA55711}"/>
              </a:ext>
            </a:extLst>
          </p:cNvPr>
          <p:cNvSpPr txBox="1"/>
          <p:nvPr/>
        </p:nvSpPr>
        <p:spPr>
          <a:xfrm>
            <a:off x="1752600" y="4338667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7" name="Picture 8" descr="Response Generic Flat icon">
            <a:extLst>
              <a:ext uri="{FF2B5EF4-FFF2-40B4-BE49-F238E27FC236}">
                <a16:creationId xmlns:a16="http://schemas.microsoft.com/office/drawing/2014/main" id="{9EB55956-93D0-499E-8389-CB7C1B800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5029" y="4779268"/>
            <a:ext cx="1098769" cy="1098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Data recovery - Free electronics icons">
            <a:extLst>
              <a:ext uri="{FF2B5EF4-FFF2-40B4-BE49-F238E27FC236}">
                <a16:creationId xmlns:a16="http://schemas.microsoft.com/office/drawing/2014/main" id="{EB8499BD-9C23-45A3-9D3C-027666B2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9155" y="2048842"/>
            <a:ext cx="1114572" cy="1114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Data query - Free business and finance icons">
            <a:extLst>
              <a:ext uri="{FF2B5EF4-FFF2-40B4-BE49-F238E27FC236}">
                <a16:creationId xmlns:a16="http://schemas.microsoft.com/office/drawing/2014/main" id="{65B4063F-442D-4763-B39E-345AF8687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440" y="7808230"/>
            <a:ext cx="1161024" cy="1056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4" descr="19 Mongodb Icons, Logos, Symbols - Free in SVG, PNG, GIF | IconScout">
            <a:extLst>
              <a:ext uri="{FF2B5EF4-FFF2-40B4-BE49-F238E27FC236}">
                <a16:creationId xmlns:a16="http://schemas.microsoft.com/office/drawing/2014/main" id="{421C5856-2431-459D-92BF-389908A6B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44" y="4929306"/>
            <a:ext cx="1161024" cy="982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A1A2FD7-BA70-449D-856E-948FDE066C2A}"/>
              </a:ext>
            </a:extLst>
          </p:cNvPr>
          <p:cNvSpPr/>
          <p:nvPr/>
        </p:nvSpPr>
        <p:spPr>
          <a:xfrm>
            <a:off x="4100159" y="1692973"/>
            <a:ext cx="3883124" cy="18962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E456C7-DF0B-4051-988E-54E3EE1649BB}"/>
              </a:ext>
            </a:extLst>
          </p:cNvPr>
          <p:cNvSpPr txBox="1"/>
          <p:nvPr/>
        </p:nvSpPr>
        <p:spPr>
          <a:xfrm>
            <a:off x="4311047" y="1913183"/>
            <a:ext cx="3672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Query Input: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their questions in natural language via a user-friendly interface.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13C4993-E676-40E1-B15E-77DD4B9614E1}"/>
              </a:ext>
            </a:extLst>
          </p:cNvPr>
          <p:cNvSpPr/>
          <p:nvPr/>
        </p:nvSpPr>
        <p:spPr>
          <a:xfrm>
            <a:off x="2096544" y="4361201"/>
            <a:ext cx="4539988" cy="223006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3545EB86-A6F5-4418-950D-4FB79AFD0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504" y="4534724"/>
            <a:ext cx="447002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Natural Language to MongoDB Query Conversion: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fine-tuned BART model translates the natural language questions into precise MongoDB queries for the computer to understand.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9CE0A57-51E4-485E-B5D1-C64EA7579E2B}"/>
              </a:ext>
            </a:extLst>
          </p:cNvPr>
          <p:cNvSpPr/>
          <p:nvPr/>
        </p:nvSpPr>
        <p:spPr>
          <a:xfrm>
            <a:off x="3814303" y="7382913"/>
            <a:ext cx="4168980" cy="18111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F60FC6-52E6-4C5B-9542-49AD99FF712D}"/>
              </a:ext>
            </a:extLst>
          </p:cNvPr>
          <p:cNvSpPr txBox="1"/>
          <p:nvPr/>
        </p:nvSpPr>
        <p:spPr>
          <a:xfrm>
            <a:off x="3840794" y="7436020"/>
            <a:ext cx="41159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Query Processing: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engine processes the MongoDB query, which interacts with the MongoDB database where all the patient records are stored.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854A3CB-62A9-4598-8EF5-A6E19BABB4C6}"/>
              </a:ext>
            </a:extLst>
          </p:cNvPr>
          <p:cNvSpPr/>
          <p:nvPr/>
        </p:nvSpPr>
        <p:spPr>
          <a:xfrm>
            <a:off x="10819269" y="1710060"/>
            <a:ext cx="3883123" cy="18343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2B8935-55C6-4348-8346-7E0413B84668}"/>
              </a:ext>
            </a:extLst>
          </p:cNvPr>
          <p:cNvSpPr txBox="1"/>
          <p:nvPr/>
        </p:nvSpPr>
        <p:spPr>
          <a:xfrm>
            <a:off x="11016549" y="1812090"/>
            <a:ext cx="37308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Retrieval: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engine fetches the required patient details from the MongoDB database based on the query.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D59686D-01DE-49F6-8015-86F870A12B82}"/>
              </a:ext>
            </a:extLst>
          </p:cNvPr>
          <p:cNvSpPr/>
          <p:nvPr/>
        </p:nvSpPr>
        <p:spPr>
          <a:xfrm>
            <a:off x="12174714" y="4361201"/>
            <a:ext cx="4287863" cy="19349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16298B-5DBC-4975-9CE5-25BF803F81C7}"/>
              </a:ext>
            </a:extLst>
          </p:cNvPr>
          <p:cNvSpPr txBox="1"/>
          <p:nvPr/>
        </p:nvSpPr>
        <p:spPr>
          <a:xfrm>
            <a:off x="12320336" y="4581051"/>
            <a:ext cx="3788344" cy="162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Natural Language Response Generation: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Pegasus model then processes the retrieved data to generate a natural language response.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2FDB7C7-5821-45DD-AB17-461CC957B2E4}"/>
              </a:ext>
            </a:extLst>
          </p:cNvPr>
          <p:cNvSpPr/>
          <p:nvPr/>
        </p:nvSpPr>
        <p:spPr>
          <a:xfrm>
            <a:off x="11016550" y="7424163"/>
            <a:ext cx="4099608" cy="18555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6A4B41-4679-43FD-8D53-A13DDB3F98E1}"/>
              </a:ext>
            </a:extLst>
          </p:cNvPr>
          <p:cNvSpPr txBox="1"/>
          <p:nvPr/>
        </p:nvSpPr>
        <p:spPr>
          <a:xfrm>
            <a:off x="11186183" y="7504585"/>
            <a:ext cx="38378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User-Friendly Output: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are delivered through an easy-to-use interface, Enhanced with a voice assistant and PDF download for patient data.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F6EE8-91AA-4CA3-9A21-610CE10242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32449" y="7865483"/>
            <a:ext cx="1342555" cy="1074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User experience - Free interface icons">
            <a:extLst>
              <a:ext uri="{FF2B5EF4-FFF2-40B4-BE49-F238E27FC236}">
                <a16:creationId xmlns:a16="http://schemas.microsoft.com/office/drawing/2014/main" id="{5A205FC4-58C1-43BD-9F72-57E18788B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954" y="2215309"/>
            <a:ext cx="1026964" cy="1026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65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8" grpId="0" animBg="1"/>
      <p:bldP spid="39" grpId="0"/>
      <p:bldP spid="40" grpId="0" animBg="1"/>
      <p:bldP spid="41" grpId="0"/>
      <p:bldP spid="43" grpId="0" animBg="1"/>
      <p:bldP spid="44" grpId="0"/>
      <p:bldP spid="45" grpId="0" animBg="1"/>
      <p:bldP spid="46" grpId="0"/>
      <p:bldP spid="48" grpId="0" animBg="1"/>
      <p:bldP spid="49" grpId="0"/>
      <p:bldP spid="50" grpId="0" animBg="1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6021251-B1B3-4EA7-A3ED-75338472CA66}"/>
              </a:ext>
            </a:extLst>
          </p:cNvPr>
          <p:cNvGrpSpPr/>
          <p:nvPr/>
        </p:nvGrpSpPr>
        <p:grpSpPr>
          <a:xfrm rot="-10800000">
            <a:off x="-26875" y="2820526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277048E-5B17-4661-B2BA-EF7C497A269B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20981D4-616E-4302-9D90-2663A0480C3D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BFF10635-064F-4A11-AD0F-8C66FD31E60C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6BC02EAF-A547-4AA4-8933-0E6D5FD3F015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C41BD730-3F96-4ABC-81F2-13C07E113EC0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7DA579F4-1A2F-4307-92B2-E98406714C89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A51B978-171B-4C03-A315-5666B2D67646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F587D32E-9102-42F0-BCF1-1EF4BBEAE29D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6C83FBC7-C6DF-492E-BD65-15A29214C48E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296F0093-0242-46DB-9FBB-9E419C135A4C}"/>
              </a:ext>
            </a:extLst>
          </p:cNvPr>
          <p:cNvSpPr txBox="1"/>
          <p:nvPr/>
        </p:nvSpPr>
        <p:spPr>
          <a:xfrm>
            <a:off x="1199117" y="-227492"/>
            <a:ext cx="15157626" cy="3035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4400" dirty="0" err="1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DataSet</a:t>
            </a: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, Technology stack</a:t>
            </a:r>
          </a:p>
          <a:p>
            <a:pPr algn="l">
              <a:lnSpc>
                <a:spcPts val="12880"/>
              </a:lnSpc>
            </a:pPr>
            <a:endParaRPr lang="en-US" sz="4400" dirty="0">
              <a:solidFill>
                <a:srgbClr val="254E9D"/>
              </a:solidFill>
              <a:latin typeface="Antonio Ultra-Bold"/>
              <a:ea typeface="Antonio Ultra-Bold"/>
              <a:cs typeface="Antonio Ultra-Bold"/>
              <a:sym typeface="Antonio Ultra-Bold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F5C82A9F-C449-43A3-A024-5CB04844F6F5}"/>
              </a:ext>
            </a:extLst>
          </p:cNvPr>
          <p:cNvSpPr/>
          <p:nvPr/>
        </p:nvSpPr>
        <p:spPr>
          <a:xfrm>
            <a:off x="155983" y="485572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8EECA724-463C-4FDE-87EF-F994BAB7520C}"/>
              </a:ext>
            </a:extLst>
          </p:cNvPr>
          <p:cNvSpPr/>
          <p:nvPr/>
        </p:nvSpPr>
        <p:spPr>
          <a:xfrm>
            <a:off x="16696749" y="44669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86DC3E-AF34-44C5-A74C-355F33F93317}"/>
              </a:ext>
            </a:extLst>
          </p:cNvPr>
          <p:cNvSpPr/>
          <p:nvPr/>
        </p:nvSpPr>
        <p:spPr>
          <a:xfrm>
            <a:off x="828851" y="1893663"/>
            <a:ext cx="3970056" cy="1981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A79DDD-8036-455E-9037-2F5AE234FBC1}"/>
              </a:ext>
            </a:extLst>
          </p:cNvPr>
          <p:cNvSpPr txBox="1"/>
          <p:nvPr/>
        </p:nvSpPr>
        <p:spPr>
          <a:xfrm>
            <a:off x="1093564" y="2111130"/>
            <a:ext cx="2757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JSON medical records generated from ChatGPT.</a:t>
            </a:r>
          </a:p>
        </p:txBody>
      </p:sp>
      <p:pic>
        <p:nvPicPr>
          <p:cNvPr id="2050" name="Picture 2" descr="Dataset Icons - Free SVG &amp; PNG Dataset Images - Noun Project">
            <a:extLst>
              <a:ext uri="{FF2B5EF4-FFF2-40B4-BE49-F238E27FC236}">
                <a16:creationId xmlns:a16="http://schemas.microsoft.com/office/drawing/2014/main" id="{AD06671B-3864-46E9-B55C-F655E378E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172" y="2332119"/>
            <a:ext cx="1227927" cy="122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B93521E-5041-447A-A2F8-91EF0EEBD993}"/>
              </a:ext>
            </a:extLst>
          </p:cNvPr>
          <p:cNvSpPr/>
          <p:nvPr/>
        </p:nvSpPr>
        <p:spPr>
          <a:xfrm>
            <a:off x="830544" y="4433166"/>
            <a:ext cx="3970056" cy="1981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9C442E0-0C38-4CC4-A972-93A3FE59A1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4851" y="4928186"/>
            <a:ext cx="1066800" cy="10668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2DEE53-37DD-4764-843C-E5F6CCBD7AF9}"/>
              </a:ext>
            </a:extLst>
          </p:cNvPr>
          <p:cNvSpPr txBox="1"/>
          <p:nvPr/>
        </p:nvSpPr>
        <p:spPr>
          <a:xfrm>
            <a:off x="1199117" y="4959107"/>
            <a:ext cx="3003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80,000 data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9B64780-E4E5-4326-8A2C-3D47FC673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884" y="1634364"/>
            <a:ext cx="5975025" cy="7395145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2271E8-74D9-427D-A032-28B6B419E56B}"/>
              </a:ext>
            </a:extLst>
          </p:cNvPr>
          <p:cNvSpPr/>
          <p:nvPr/>
        </p:nvSpPr>
        <p:spPr>
          <a:xfrm>
            <a:off x="823871" y="7048309"/>
            <a:ext cx="3976729" cy="1981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287F67-A5B6-41B9-A726-CE2FA3B3FAE1}"/>
              </a:ext>
            </a:extLst>
          </p:cNvPr>
          <p:cNvSpPr txBox="1"/>
          <p:nvPr/>
        </p:nvSpPr>
        <p:spPr>
          <a:xfrm>
            <a:off x="1199117" y="7585772"/>
            <a:ext cx="3003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</a:p>
        </p:txBody>
      </p:sp>
      <p:pic>
        <p:nvPicPr>
          <p:cNvPr id="2054" name="Picture 6" descr="Right Arrow - Free arrows icons">
            <a:extLst>
              <a:ext uri="{FF2B5EF4-FFF2-40B4-BE49-F238E27FC236}">
                <a16:creationId xmlns:a16="http://schemas.microsoft.com/office/drawing/2014/main" id="{D4EB4B50-7C65-4846-8246-FC51F7FA5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217" y="7467808"/>
            <a:ext cx="1088511" cy="108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4C16C3A-90D0-4B5E-9B13-C77E1116519E}"/>
              </a:ext>
            </a:extLst>
          </p:cNvPr>
          <p:cNvSpPr/>
          <p:nvPr/>
        </p:nvSpPr>
        <p:spPr>
          <a:xfrm>
            <a:off x="12683663" y="2111130"/>
            <a:ext cx="5070937" cy="6453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26C2879-87BA-4053-BFB0-27F8CCCCB61C}"/>
              </a:ext>
            </a:extLst>
          </p:cNvPr>
          <p:cNvSpPr/>
          <p:nvPr/>
        </p:nvSpPr>
        <p:spPr>
          <a:xfrm>
            <a:off x="12440590" y="1923787"/>
            <a:ext cx="5466409" cy="6453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10" descr="Stacked files - Free interface icons">
            <a:extLst>
              <a:ext uri="{FF2B5EF4-FFF2-40B4-BE49-F238E27FC236}">
                <a16:creationId xmlns:a16="http://schemas.microsoft.com/office/drawing/2014/main" id="{90CDB1AC-DF33-41D1-9DD4-F66EDFE7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7036" y="2169269"/>
            <a:ext cx="1110161" cy="111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E0830C7-399F-4454-B02B-CE29DA4A7AE7}"/>
              </a:ext>
            </a:extLst>
          </p:cNvPr>
          <p:cNvSpPr txBox="1"/>
          <p:nvPr/>
        </p:nvSpPr>
        <p:spPr>
          <a:xfrm>
            <a:off x="13239205" y="2389053"/>
            <a:ext cx="3003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Tech-Stack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AD0AEE-0699-4167-89F8-0BEE78F7D8B5}"/>
              </a:ext>
            </a:extLst>
          </p:cNvPr>
          <p:cNvSpPr txBox="1"/>
          <p:nvPr/>
        </p:nvSpPr>
        <p:spPr>
          <a:xfrm>
            <a:off x="12756718" y="3596697"/>
            <a:ext cx="4997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Scripting Language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BART, Pegasus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Flask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MongoDB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HTML, CSS, JS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490100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7" grpId="0" animBg="1"/>
      <p:bldP spid="29" grpId="0"/>
      <p:bldP spid="31" grpId="0" animBg="1"/>
      <p:bldP spid="32" grpId="0"/>
      <p:bldP spid="33" grpId="0"/>
      <p:bldP spid="46" grpId="0" animBg="1"/>
      <p:bldP spid="48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E67B050-452D-4C7A-A897-F129F0D353ED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E3FDEB1-44F5-401A-AD90-0E64482BCF7C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521B202-0995-43A2-8299-3E72CDFCBD41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89CB5CE8-5AAF-4154-88AE-CA40FF97145B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B19F7EC-1926-4A39-9687-096AC7C1F2CD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CB62B561-7F78-42FF-B41B-662F803F2290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D618C7A6-CE54-4B9A-8638-4D9935B8A952}"/>
              </a:ext>
            </a:extLst>
          </p:cNvPr>
          <p:cNvSpPr txBox="1"/>
          <p:nvPr/>
        </p:nvSpPr>
        <p:spPr>
          <a:xfrm>
            <a:off x="1088855" y="-181662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Why?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E244BA86-9ED4-4190-B3E4-9E13320AEF33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22485978-EF06-42C4-B7DA-8D337910DDC4}"/>
              </a:ext>
            </a:extLst>
          </p:cNvPr>
          <p:cNvSpPr/>
          <p:nvPr/>
        </p:nvSpPr>
        <p:spPr>
          <a:xfrm>
            <a:off x="112082" y="511080"/>
            <a:ext cx="871855" cy="692785"/>
          </a:xfrm>
          <a:custGeom>
            <a:avLst/>
            <a:gdLst/>
            <a:ahLst/>
            <a:cxnLst/>
            <a:rect l="l" t="t" r="r" b="b"/>
            <a:pathLst>
              <a:path w="871855" h="692785">
                <a:moveTo>
                  <a:pt x="499934" y="22782"/>
                </a:moveTo>
                <a:lnTo>
                  <a:pt x="498246" y="22782"/>
                </a:lnTo>
                <a:lnTo>
                  <a:pt x="477720" y="104689"/>
                </a:lnTo>
                <a:lnTo>
                  <a:pt x="577800" y="679339"/>
                </a:lnTo>
                <a:lnTo>
                  <a:pt x="583151" y="688400"/>
                </a:lnTo>
                <a:lnTo>
                  <a:pt x="592826" y="692397"/>
                </a:lnTo>
                <a:lnTo>
                  <a:pt x="603234" y="690955"/>
                </a:lnTo>
                <a:lnTo>
                  <a:pt x="610783" y="683695"/>
                </a:lnTo>
                <a:lnTo>
                  <a:pt x="617509" y="669650"/>
                </a:lnTo>
                <a:lnTo>
                  <a:pt x="612591" y="669650"/>
                </a:lnTo>
                <a:lnTo>
                  <a:pt x="579608" y="665288"/>
                </a:lnTo>
                <a:lnTo>
                  <a:pt x="603238" y="615950"/>
                </a:lnTo>
                <a:lnTo>
                  <a:pt x="499934" y="22782"/>
                </a:lnTo>
                <a:close/>
              </a:path>
              <a:path w="871855" h="692785">
                <a:moveTo>
                  <a:pt x="603238" y="615950"/>
                </a:moveTo>
                <a:lnTo>
                  <a:pt x="579608" y="665288"/>
                </a:lnTo>
                <a:lnTo>
                  <a:pt x="612591" y="669650"/>
                </a:lnTo>
                <a:lnTo>
                  <a:pt x="603238" y="615950"/>
                </a:lnTo>
                <a:close/>
              </a:path>
              <a:path w="871855" h="692785">
                <a:moveTo>
                  <a:pt x="853965" y="467800"/>
                </a:moveTo>
                <a:lnTo>
                  <a:pt x="679482" y="467803"/>
                </a:lnTo>
                <a:lnTo>
                  <a:pt x="672577" y="471179"/>
                </a:lnTo>
                <a:lnTo>
                  <a:pt x="603238" y="615950"/>
                </a:lnTo>
                <a:lnTo>
                  <a:pt x="612591" y="669650"/>
                </a:lnTo>
                <a:lnTo>
                  <a:pt x="617509" y="669650"/>
                </a:lnTo>
                <a:lnTo>
                  <a:pt x="696713" y="504276"/>
                </a:lnTo>
                <a:lnTo>
                  <a:pt x="694799" y="504276"/>
                </a:lnTo>
                <a:lnTo>
                  <a:pt x="688041" y="501834"/>
                </a:lnTo>
                <a:lnTo>
                  <a:pt x="691653" y="497589"/>
                </a:lnTo>
                <a:lnTo>
                  <a:pt x="697567" y="496165"/>
                </a:lnTo>
                <a:lnTo>
                  <a:pt x="867894" y="496165"/>
                </a:lnTo>
                <a:lnTo>
                  <a:pt x="871419" y="486038"/>
                </a:lnTo>
                <a:lnTo>
                  <a:pt x="867055" y="473499"/>
                </a:lnTo>
                <a:lnTo>
                  <a:pt x="853965" y="467800"/>
                </a:lnTo>
                <a:close/>
              </a:path>
              <a:path w="871855" h="692785">
                <a:moveTo>
                  <a:pt x="273041" y="199092"/>
                </a:moveTo>
                <a:lnTo>
                  <a:pt x="269574" y="199092"/>
                </a:lnTo>
                <a:lnTo>
                  <a:pt x="253395" y="251392"/>
                </a:lnTo>
                <a:lnTo>
                  <a:pt x="343074" y="503041"/>
                </a:lnTo>
                <a:lnTo>
                  <a:pt x="350283" y="512465"/>
                </a:lnTo>
                <a:lnTo>
                  <a:pt x="360889" y="516069"/>
                </a:lnTo>
                <a:lnTo>
                  <a:pt x="371293" y="513159"/>
                </a:lnTo>
                <a:lnTo>
                  <a:pt x="377894" y="503041"/>
                </a:lnTo>
                <a:lnTo>
                  <a:pt x="380322" y="493352"/>
                </a:lnTo>
                <a:lnTo>
                  <a:pt x="343074" y="493352"/>
                </a:lnTo>
                <a:lnTo>
                  <a:pt x="357453" y="435987"/>
                </a:lnTo>
                <a:lnTo>
                  <a:pt x="273041" y="199092"/>
                </a:lnTo>
                <a:close/>
              </a:path>
              <a:path w="871855" h="692785">
                <a:moveTo>
                  <a:pt x="148631" y="467803"/>
                </a:moveTo>
                <a:lnTo>
                  <a:pt x="17464" y="467803"/>
                </a:lnTo>
                <a:lnTo>
                  <a:pt x="4366" y="473502"/>
                </a:lnTo>
                <a:lnTo>
                  <a:pt x="0" y="486039"/>
                </a:lnTo>
                <a:lnTo>
                  <a:pt x="4366" y="498577"/>
                </a:lnTo>
                <a:lnTo>
                  <a:pt x="17464" y="504276"/>
                </a:lnTo>
                <a:lnTo>
                  <a:pt x="170137" y="504276"/>
                </a:lnTo>
                <a:lnTo>
                  <a:pt x="176900" y="498670"/>
                </a:lnTo>
                <a:lnTo>
                  <a:pt x="182307" y="481192"/>
                </a:lnTo>
                <a:lnTo>
                  <a:pt x="144489" y="481192"/>
                </a:lnTo>
                <a:lnTo>
                  <a:pt x="148631" y="467803"/>
                </a:lnTo>
                <a:close/>
              </a:path>
              <a:path w="871855" h="692785">
                <a:moveTo>
                  <a:pt x="697567" y="496165"/>
                </a:moveTo>
                <a:lnTo>
                  <a:pt x="691653" y="497589"/>
                </a:lnTo>
                <a:lnTo>
                  <a:pt x="688041" y="501834"/>
                </a:lnTo>
                <a:lnTo>
                  <a:pt x="694799" y="504276"/>
                </a:lnTo>
                <a:lnTo>
                  <a:pt x="696713" y="504276"/>
                </a:lnTo>
                <a:lnTo>
                  <a:pt x="697715" y="502184"/>
                </a:lnTo>
                <a:lnTo>
                  <a:pt x="697567" y="496165"/>
                </a:lnTo>
                <a:close/>
              </a:path>
              <a:path w="871855" h="692785">
                <a:moveTo>
                  <a:pt x="867894" y="496165"/>
                </a:moveTo>
                <a:lnTo>
                  <a:pt x="697567" y="496165"/>
                </a:lnTo>
                <a:lnTo>
                  <a:pt x="697715" y="502184"/>
                </a:lnTo>
                <a:lnTo>
                  <a:pt x="696713" y="504276"/>
                </a:lnTo>
                <a:lnTo>
                  <a:pt x="853965" y="504276"/>
                </a:lnTo>
                <a:lnTo>
                  <a:pt x="867055" y="498576"/>
                </a:lnTo>
                <a:lnTo>
                  <a:pt x="867894" y="496165"/>
                </a:lnTo>
                <a:close/>
              </a:path>
              <a:path w="871855" h="692785">
                <a:moveTo>
                  <a:pt x="357453" y="435987"/>
                </a:moveTo>
                <a:lnTo>
                  <a:pt x="343074" y="493352"/>
                </a:lnTo>
                <a:lnTo>
                  <a:pt x="377894" y="493352"/>
                </a:lnTo>
                <a:lnTo>
                  <a:pt x="357453" y="435987"/>
                </a:lnTo>
                <a:close/>
              </a:path>
              <a:path w="871855" h="692785">
                <a:moveTo>
                  <a:pt x="481234" y="0"/>
                </a:moveTo>
                <a:lnTo>
                  <a:pt x="470208" y="3483"/>
                </a:lnTo>
                <a:lnTo>
                  <a:pt x="463456" y="13090"/>
                </a:lnTo>
                <a:lnTo>
                  <a:pt x="357453" y="435987"/>
                </a:lnTo>
                <a:lnTo>
                  <a:pt x="377894" y="493352"/>
                </a:lnTo>
                <a:lnTo>
                  <a:pt x="380322" y="493352"/>
                </a:lnTo>
                <a:lnTo>
                  <a:pt x="477720" y="104689"/>
                </a:lnTo>
                <a:lnTo>
                  <a:pt x="463456" y="22782"/>
                </a:lnTo>
                <a:lnTo>
                  <a:pt x="499934" y="22782"/>
                </a:lnTo>
                <a:lnTo>
                  <a:pt x="498246" y="13090"/>
                </a:lnTo>
                <a:lnTo>
                  <a:pt x="492068" y="3061"/>
                </a:lnTo>
                <a:lnTo>
                  <a:pt x="481234" y="0"/>
                </a:lnTo>
                <a:close/>
              </a:path>
              <a:path w="871855" h="692785">
                <a:moveTo>
                  <a:pt x="252003" y="176369"/>
                </a:moveTo>
                <a:lnTo>
                  <a:pt x="241697" y="179458"/>
                </a:lnTo>
                <a:lnTo>
                  <a:pt x="234761" y="189371"/>
                </a:lnTo>
                <a:lnTo>
                  <a:pt x="144489" y="481192"/>
                </a:lnTo>
                <a:lnTo>
                  <a:pt x="161899" y="467803"/>
                </a:lnTo>
                <a:lnTo>
                  <a:pt x="186450" y="467800"/>
                </a:lnTo>
                <a:lnTo>
                  <a:pt x="253395" y="251392"/>
                </a:lnTo>
                <a:lnTo>
                  <a:pt x="234758" y="199092"/>
                </a:lnTo>
                <a:lnTo>
                  <a:pt x="273041" y="199092"/>
                </a:lnTo>
                <a:lnTo>
                  <a:pt x="269577" y="189371"/>
                </a:lnTo>
                <a:lnTo>
                  <a:pt x="262392" y="179781"/>
                </a:lnTo>
                <a:lnTo>
                  <a:pt x="252003" y="176369"/>
                </a:lnTo>
                <a:close/>
              </a:path>
              <a:path w="871855" h="692785">
                <a:moveTo>
                  <a:pt x="186449" y="467803"/>
                </a:moveTo>
                <a:lnTo>
                  <a:pt x="161899" y="467803"/>
                </a:lnTo>
                <a:lnTo>
                  <a:pt x="144489" y="481192"/>
                </a:lnTo>
                <a:lnTo>
                  <a:pt x="182307" y="481192"/>
                </a:lnTo>
                <a:lnTo>
                  <a:pt x="186449" y="467803"/>
                </a:lnTo>
                <a:close/>
              </a:path>
              <a:path w="871855" h="692785">
                <a:moveTo>
                  <a:pt x="269574" y="199092"/>
                </a:moveTo>
                <a:lnTo>
                  <a:pt x="234758" y="199092"/>
                </a:lnTo>
                <a:lnTo>
                  <a:pt x="253395" y="251392"/>
                </a:lnTo>
                <a:lnTo>
                  <a:pt x="269574" y="199092"/>
                </a:lnTo>
                <a:close/>
              </a:path>
              <a:path w="871855" h="692785">
                <a:moveTo>
                  <a:pt x="498246" y="22782"/>
                </a:moveTo>
                <a:lnTo>
                  <a:pt x="463456" y="22782"/>
                </a:lnTo>
                <a:lnTo>
                  <a:pt x="477720" y="104689"/>
                </a:lnTo>
                <a:lnTo>
                  <a:pt x="498246" y="22782"/>
                </a:lnTo>
                <a:close/>
              </a:path>
            </a:pathLst>
          </a:custGeom>
          <a:solidFill>
            <a:srgbClr val="244E9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8">
            <a:extLst>
              <a:ext uri="{FF2B5EF4-FFF2-40B4-BE49-F238E27FC236}">
                <a16:creationId xmlns:a16="http://schemas.microsoft.com/office/drawing/2014/main" id="{6CC82E1B-4A43-489D-89BC-6F1F38B2827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35400" y="466725"/>
            <a:ext cx="1323975" cy="1314450"/>
          </a:xfrm>
          <a:prstGeom prst="rect">
            <a:avLst/>
          </a:prstGeom>
        </p:spPr>
      </p:pic>
      <p:pic>
        <p:nvPicPr>
          <p:cNvPr id="34" name="object 9">
            <a:extLst>
              <a:ext uri="{FF2B5EF4-FFF2-40B4-BE49-F238E27FC236}">
                <a16:creationId xmlns:a16="http://schemas.microsoft.com/office/drawing/2014/main" id="{A412ED16-A82E-4C59-8E59-D45C0586651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24256" y="2952750"/>
            <a:ext cx="1431035" cy="1390650"/>
          </a:xfrm>
          <a:prstGeom prst="rect">
            <a:avLst/>
          </a:prstGeom>
        </p:spPr>
      </p:pic>
      <p:pic>
        <p:nvPicPr>
          <p:cNvPr id="35" name="object 10">
            <a:extLst>
              <a:ext uri="{FF2B5EF4-FFF2-40B4-BE49-F238E27FC236}">
                <a16:creationId xmlns:a16="http://schemas.microsoft.com/office/drawing/2014/main" id="{6FE1724F-3F67-426F-B9BE-A39ABCDCEF7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81425" y="1123950"/>
            <a:ext cx="1076325" cy="1190625"/>
          </a:xfrm>
          <a:prstGeom prst="rect">
            <a:avLst/>
          </a:prstGeom>
        </p:spPr>
      </p:pic>
      <p:pic>
        <p:nvPicPr>
          <p:cNvPr id="36" name="object 11">
            <a:extLst>
              <a:ext uri="{FF2B5EF4-FFF2-40B4-BE49-F238E27FC236}">
                <a16:creationId xmlns:a16="http://schemas.microsoft.com/office/drawing/2014/main" id="{03133833-B3DF-4D1B-B06E-4D30AE41232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6903" y="4883328"/>
            <a:ext cx="1500669" cy="1500669"/>
          </a:xfrm>
          <a:prstGeom prst="rect">
            <a:avLst/>
          </a:prstGeom>
        </p:spPr>
      </p:pic>
      <p:pic>
        <p:nvPicPr>
          <p:cNvPr id="37" name="object 12">
            <a:extLst>
              <a:ext uri="{FF2B5EF4-FFF2-40B4-BE49-F238E27FC236}">
                <a16:creationId xmlns:a16="http://schemas.microsoft.com/office/drawing/2014/main" id="{D5EC7B46-2E24-4C29-B2B4-20E2CF8101D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20650" y="6972300"/>
            <a:ext cx="2636728" cy="1433376"/>
          </a:xfrm>
          <a:prstGeom prst="rect">
            <a:avLst/>
          </a:prstGeom>
        </p:spPr>
      </p:pic>
      <p:grpSp>
        <p:nvGrpSpPr>
          <p:cNvPr id="38" name="object 13">
            <a:extLst>
              <a:ext uri="{FF2B5EF4-FFF2-40B4-BE49-F238E27FC236}">
                <a16:creationId xmlns:a16="http://schemas.microsoft.com/office/drawing/2014/main" id="{9CA56A3B-96ED-49DA-9C2E-DAE020B7D3DB}"/>
              </a:ext>
            </a:extLst>
          </p:cNvPr>
          <p:cNvGrpSpPr/>
          <p:nvPr/>
        </p:nvGrpSpPr>
        <p:grpSpPr>
          <a:xfrm>
            <a:off x="5107051" y="1116075"/>
            <a:ext cx="10302875" cy="1196975"/>
            <a:chOff x="5107051" y="1116075"/>
            <a:chExt cx="10302875" cy="1196975"/>
          </a:xfrm>
        </p:grpSpPr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0766C39F-87A3-4608-83E0-F4488DED136D}"/>
                </a:ext>
              </a:extLst>
            </p:cNvPr>
            <p:cNvSpPr/>
            <p:nvPr/>
          </p:nvSpPr>
          <p:spPr>
            <a:xfrm>
              <a:off x="5119751" y="1128775"/>
              <a:ext cx="10277475" cy="1171575"/>
            </a:xfrm>
            <a:custGeom>
              <a:avLst/>
              <a:gdLst/>
              <a:ahLst/>
              <a:cxnLst/>
              <a:rect l="l" t="t" r="r" b="b"/>
              <a:pathLst>
                <a:path w="10277475" h="1171575">
                  <a:moveTo>
                    <a:pt x="10082149" y="0"/>
                  </a:moveTo>
                  <a:lnTo>
                    <a:pt x="195199" y="0"/>
                  </a:lnTo>
                  <a:lnTo>
                    <a:pt x="150436" y="5154"/>
                  </a:lnTo>
                  <a:lnTo>
                    <a:pt x="109347" y="19837"/>
                  </a:lnTo>
                  <a:lnTo>
                    <a:pt x="73104" y="42877"/>
                  </a:lnTo>
                  <a:lnTo>
                    <a:pt x="42877" y="73104"/>
                  </a:lnTo>
                  <a:lnTo>
                    <a:pt x="19837" y="109347"/>
                  </a:lnTo>
                  <a:lnTo>
                    <a:pt x="5154" y="150436"/>
                  </a:lnTo>
                  <a:lnTo>
                    <a:pt x="0" y="195199"/>
                  </a:lnTo>
                  <a:lnTo>
                    <a:pt x="0" y="976249"/>
                  </a:lnTo>
                  <a:lnTo>
                    <a:pt x="5154" y="1021011"/>
                  </a:lnTo>
                  <a:lnTo>
                    <a:pt x="19837" y="1062100"/>
                  </a:lnTo>
                  <a:lnTo>
                    <a:pt x="42877" y="1098343"/>
                  </a:lnTo>
                  <a:lnTo>
                    <a:pt x="73104" y="1128570"/>
                  </a:lnTo>
                  <a:lnTo>
                    <a:pt x="109347" y="1151610"/>
                  </a:lnTo>
                  <a:lnTo>
                    <a:pt x="150436" y="1166293"/>
                  </a:lnTo>
                  <a:lnTo>
                    <a:pt x="195199" y="1171448"/>
                  </a:lnTo>
                  <a:lnTo>
                    <a:pt x="10082149" y="1171448"/>
                  </a:lnTo>
                  <a:lnTo>
                    <a:pt x="10126918" y="1166293"/>
                  </a:lnTo>
                  <a:lnTo>
                    <a:pt x="10168025" y="1151610"/>
                  </a:lnTo>
                  <a:lnTo>
                    <a:pt x="10204293" y="1128570"/>
                  </a:lnTo>
                  <a:lnTo>
                    <a:pt x="10234547" y="1098343"/>
                  </a:lnTo>
                  <a:lnTo>
                    <a:pt x="10257612" y="1062100"/>
                  </a:lnTo>
                  <a:lnTo>
                    <a:pt x="10272313" y="1021011"/>
                  </a:lnTo>
                  <a:lnTo>
                    <a:pt x="10277475" y="976249"/>
                  </a:lnTo>
                  <a:lnTo>
                    <a:pt x="10277475" y="195199"/>
                  </a:lnTo>
                  <a:lnTo>
                    <a:pt x="10272313" y="150436"/>
                  </a:lnTo>
                  <a:lnTo>
                    <a:pt x="10257612" y="109347"/>
                  </a:lnTo>
                  <a:lnTo>
                    <a:pt x="10234547" y="73104"/>
                  </a:lnTo>
                  <a:lnTo>
                    <a:pt x="10204293" y="42877"/>
                  </a:lnTo>
                  <a:lnTo>
                    <a:pt x="10168025" y="19837"/>
                  </a:lnTo>
                  <a:lnTo>
                    <a:pt x="10126918" y="5154"/>
                  </a:lnTo>
                  <a:lnTo>
                    <a:pt x="10082149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067123C5-AB20-43DD-9FF5-D76F55A3F117}"/>
                </a:ext>
              </a:extLst>
            </p:cNvPr>
            <p:cNvSpPr/>
            <p:nvPr/>
          </p:nvSpPr>
          <p:spPr>
            <a:xfrm>
              <a:off x="5119751" y="1128775"/>
              <a:ext cx="10277475" cy="1171575"/>
            </a:xfrm>
            <a:custGeom>
              <a:avLst/>
              <a:gdLst/>
              <a:ahLst/>
              <a:cxnLst/>
              <a:rect l="l" t="t" r="r" b="b"/>
              <a:pathLst>
                <a:path w="10277475" h="1171575">
                  <a:moveTo>
                    <a:pt x="0" y="195199"/>
                  </a:moveTo>
                  <a:lnTo>
                    <a:pt x="5154" y="150436"/>
                  </a:lnTo>
                  <a:lnTo>
                    <a:pt x="19837" y="109347"/>
                  </a:lnTo>
                  <a:lnTo>
                    <a:pt x="42877" y="73104"/>
                  </a:lnTo>
                  <a:lnTo>
                    <a:pt x="73104" y="42877"/>
                  </a:lnTo>
                  <a:lnTo>
                    <a:pt x="109347" y="19837"/>
                  </a:lnTo>
                  <a:lnTo>
                    <a:pt x="150436" y="5154"/>
                  </a:lnTo>
                  <a:lnTo>
                    <a:pt x="195199" y="0"/>
                  </a:lnTo>
                  <a:lnTo>
                    <a:pt x="10082149" y="0"/>
                  </a:lnTo>
                  <a:lnTo>
                    <a:pt x="10126918" y="5154"/>
                  </a:lnTo>
                  <a:lnTo>
                    <a:pt x="10168025" y="19837"/>
                  </a:lnTo>
                  <a:lnTo>
                    <a:pt x="10204293" y="42877"/>
                  </a:lnTo>
                  <a:lnTo>
                    <a:pt x="10234547" y="73104"/>
                  </a:lnTo>
                  <a:lnTo>
                    <a:pt x="10257612" y="109347"/>
                  </a:lnTo>
                  <a:lnTo>
                    <a:pt x="10272313" y="150436"/>
                  </a:lnTo>
                  <a:lnTo>
                    <a:pt x="10277475" y="195199"/>
                  </a:lnTo>
                  <a:lnTo>
                    <a:pt x="10277475" y="976249"/>
                  </a:lnTo>
                  <a:lnTo>
                    <a:pt x="10272313" y="1021011"/>
                  </a:lnTo>
                  <a:lnTo>
                    <a:pt x="10257612" y="1062100"/>
                  </a:lnTo>
                  <a:lnTo>
                    <a:pt x="10234547" y="1098343"/>
                  </a:lnTo>
                  <a:lnTo>
                    <a:pt x="10204293" y="1128570"/>
                  </a:lnTo>
                  <a:lnTo>
                    <a:pt x="10168025" y="1151610"/>
                  </a:lnTo>
                  <a:lnTo>
                    <a:pt x="10126918" y="1166293"/>
                  </a:lnTo>
                  <a:lnTo>
                    <a:pt x="10082149" y="1171448"/>
                  </a:lnTo>
                  <a:lnTo>
                    <a:pt x="195199" y="1171448"/>
                  </a:lnTo>
                  <a:lnTo>
                    <a:pt x="150436" y="1166293"/>
                  </a:lnTo>
                  <a:lnTo>
                    <a:pt x="109347" y="1151610"/>
                  </a:lnTo>
                  <a:lnTo>
                    <a:pt x="73104" y="1128570"/>
                  </a:lnTo>
                  <a:lnTo>
                    <a:pt x="42877" y="1098343"/>
                  </a:lnTo>
                  <a:lnTo>
                    <a:pt x="19837" y="1062100"/>
                  </a:lnTo>
                  <a:lnTo>
                    <a:pt x="5154" y="1021011"/>
                  </a:lnTo>
                  <a:lnTo>
                    <a:pt x="0" y="976249"/>
                  </a:lnTo>
                  <a:lnTo>
                    <a:pt x="0" y="195199"/>
                  </a:lnTo>
                  <a:close/>
                </a:path>
              </a:pathLst>
            </a:custGeom>
            <a:ln w="25400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16">
            <a:extLst>
              <a:ext uri="{FF2B5EF4-FFF2-40B4-BE49-F238E27FC236}">
                <a16:creationId xmlns:a16="http://schemas.microsoft.com/office/drawing/2014/main" id="{37E6A216-3BD5-44A9-837B-9A37D4CEA55C}"/>
              </a:ext>
            </a:extLst>
          </p:cNvPr>
          <p:cNvSpPr txBox="1"/>
          <p:nvPr/>
        </p:nvSpPr>
        <p:spPr>
          <a:xfrm>
            <a:off x="5251513" y="1325599"/>
            <a:ext cx="9985375" cy="73783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414780" marR="5080" indent="-1402715">
              <a:lnSpc>
                <a:spcPct val="102299"/>
              </a:lnSpc>
              <a:spcBef>
                <a:spcPts val="50"/>
              </a:spcBef>
            </a:pPr>
            <a:r>
              <a:rPr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sz="24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Well-suited</a:t>
            </a:r>
            <a:r>
              <a:rPr sz="2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document-oriented </a:t>
            </a:r>
            <a:r>
              <a:rPr sz="2400" spc="-6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seamlessly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object 17">
            <a:extLst>
              <a:ext uri="{FF2B5EF4-FFF2-40B4-BE49-F238E27FC236}">
                <a16:creationId xmlns:a16="http://schemas.microsoft.com/office/drawing/2014/main" id="{A22B3619-04A2-47B3-91B5-909A9294606C}"/>
              </a:ext>
            </a:extLst>
          </p:cNvPr>
          <p:cNvGrpSpPr/>
          <p:nvPr/>
        </p:nvGrpSpPr>
        <p:grpSpPr>
          <a:xfrm>
            <a:off x="2220976" y="3030601"/>
            <a:ext cx="10283825" cy="1225550"/>
            <a:chOff x="2220976" y="3030601"/>
            <a:chExt cx="10283825" cy="1225550"/>
          </a:xfrm>
        </p:grpSpPr>
        <p:sp>
          <p:nvSpPr>
            <p:cNvPr id="43" name="object 18">
              <a:extLst>
                <a:ext uri="{FF2B5EF4-FFF2-40B4-BE49-F238E27FC236}">
                  <a16:creationId xmlns:a16="http://schemas.microsoft.com/office/drawing/2014/main" id="{96B36A7B-06BE-450E-A24E-F4FC585D2EB7}"/>
                </a:ext>
              </a:extLst>
            </p:cNvPr>
            <p:cNvSpPr/>
            <p:nvPr/>
          </p:nvSpPr>
          <p:spPr>
            <a:xfrm>
              <a:off x="2233676" y="3043301"/>
              <a:ext cx="10258425" cy="1200150"/>
            </a:xfrm>
            <a:custGeom>
              <a:avLst/>
              <a:gdLst/>
              <a:ahLst/>
              <a:cxnLst/>
              <a:rect l="l" t="t" r="r" b="b"/>
              <a:pathLst>
                <a:path w="10258425" h="1200150">
                  <a:moveTo>
                    <a:pt x="10058273" y="0"/>
                  </a:moveTo>
                  <a:lnTo>
                    <a:pt x="200025" y="0"/>
                  </a:lnTo>
                  <a:lnTo>
                    <a:pt x="154155" y="5281"/>
                  </a:lnTo>
                  <a:lnTo>
                    <a:pt x="112050" y="20327"/>
                  </a:lnTo>
                  <a:lnTo>
                    <a:pt x="74911" y="43937"/>
                  </a:lnTo>
                  <a:lnTo>
                    <a:pt x="43937" y="74911"/>
                  </a:lnTo>
                  <a:lnTo>
                    <a:pt x="20327" y="112050"/>
                  </a:lnTo>
                  <a:lnTo>
                    <a:pt x="5281" y="154155"/>
                  </a:lnTo>
                  <a:lnTo>
                    <a:pt x="0" y="200025"/>
                  </a:lnTo>
                  <a:lnTo>
                    <a:pt x="0" y="999998"/>
                  </a:lnTo>
                  <a:lnTo>
                    <a:pt x="5281" y="1045874"/>
                  </a:lnTo>
                  <a:lnTo>
                    <a:pt x="20327" y="1087997"/>
                  </a:lnTo>
                  <a:lnTo>
                    <a:pt x="43937" y="1125161"/>
                  </a:lnTo>
                  <a:lnTo>
                    <a:pt x="74911" y="1156162"/>
                  </a:lnTo>
                  <a:lnTo>
                    <a:pt x="112050" y="1179797"/>
                  </a:lnTo>
                  <a:lnTo>
                    <a:pt x="154155" y="1194861"/>
                  </a:lnTo>
                  <a:lnTo>
                    <a:pt x="200025" y="1200150"/>
                  </a:lnTo>
                  <a:lnTo>
                    <a:pt x="10058273" y="1200150"/>
                  </a:lnTo>
                  <a:lnTo>
                    <a:pt x="10104149" y="1194861"/>
                  </a:lnTo>
                  <a:lnTo>
                    <a:pt x="10146272" y="1179797"/>
                  </a:lnTo>
                  <a:lnTo>
                    <a:pt x="10183436" y="1156162"/>
                  </a:lnTo>
                  <a:lnTo>
                    <a:pt x="10214437" y="1125161"/>
                  </a:lnTo>
                  <a:lnTo>
                    <a:pt x="10238072" y="1087997"/>
                  </a:lnTo>
                  <a:lnTo>
                    <a:pt x="10253136" y="1045874"/>
                  </a:lnTo>
                  <a:lnTo>
                    <a:pt x="10258425" y="999998"/>
                  </a:lnTo>
                  <a:lnTo>
                    <a:pt x="10258425" y="200025"/>
                  </a:lnTo>
                  <a:lnTo>
                    <a:pt x="10253136" y="154155"/>
                  </a:lnTo>
                  <a:lnTo>
                    <a:pt x="10238072" y="112050"/>
                  </a:lnTo>
                  <a:lnTo>
                    <a:pt x="10214437" y="74911"/>
                  </a:lnTo>
                  <a:lnTo>
                    <a:pt x="10183436" y="43937"/>
                  </a:lnTo>
                  <a:lnTo>
                    <a:pt x="10146272" y="20327"/>
                  </a:lnTo>
                  <a:lnTo>
                    <a:pt x="10104149" y="5281"/>
                  </a:lnTo>
                  <a:lnTo>
                    <a:pt x="10058273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9">
              <a:extLst>
                <a:ext uri="{FF2B5EF4-FFF2-40B4-BE49-F238E27FC236}">
                  <a16:creationId xmlns:a16="http://schemas.microsoft.com/office/drawing/2014/main" id="{D83B9AAC-C1F5-454F-8619-DB249304E8B3}"/>
                </a:ext>
              </a:extLst>
            </p:cNvPr>
            <p:cNvSpPr/>
            <p:nvPr/>
          </p:nvSpPr>
          <p:spPr>
            <a:xfrm>
              <a:off x="2233676" y="3043301"/>
              <a:ext cx="10258425" cy="1200150"/>
            </a:xfrm>
            <a:custGeom>
              <a:avLst/>
              <a:gdLst/>
              <a:ahLst/>
              <a:cxnLst/>
              <a:rect l="l" t="t" r="r" b="b"/>
              <a:pathLst>
                <a:path w="10258425" h="1200150">
                  <a:moveTo>
                    <a:pt x="0" y="200025"/>
                  </a:moveTo>
                  <a:lnTo>
                    <a:pt x="5281" y="154155"/>
                  </a:lnTo>
                  <a:lnTo>
                    <a:pt x="20327" y="112050"/>
                  </a:lnTo>
                  <a:lnTo>
                    <a:pt x="43937" y="74911"/>
                  </a:lnTo>
                  <a:lnTo>
                    <a:pt x="74911" y="43937"/>
                  </a:lnTo>
                  <a:lnTo>
                    <a:pt x="112050" y="20327"/>
                  </a:lnTo>
                  <a:lnTo>
                    <a:pt x="154155" y="5281"/>
                  </a:lnTo>
                  <a:lnTo>
                    <a:pt x="200025" y="0"/>
                  </a:lnTo>
                  <a:lnTo>
                    <a:pt x="10058273" y="0"/>
                  </a:lnTo>
                  <a:lnTo>
                    <a:pt x="10104149" y="5281"/>
                  </a:lnTo>
                  <a:lnTo>
                    <a:pt x="10146272" y="20327"/>
                  </a:lnTo>
                  <a:lnTo>
                    <a:pt x="10183436" y="43937"/>
                  </a:lnTo>
                  <a:lnTo>
                    <a:pt x="10214437" y="74911"/>
                  </a:lnTo>
                  <a:lnTo>
                    <a:pt x="10238072" y="112050"/>
                  </a:lnTo>
                  <a:lnTo>
                    <a:pt x="10253136" y="154155"/>
                  </a:lnTo>
                  <a:lnTo>
                    <a:pt x="10258425" y="200025"/>
                  </a:lnTo>
                  <a:lnTo>
                    <a:pt x="10258425" y="999998"/>
                  </a:lnTo>
                  <a:lnTo>
                    <a:pt x="10253136" y="1045874"/>
                  </a:lnTo>
                  <a:lnTo>
                    <a:pt x="10238072" y="1087997"/>
                  </a:lnTo>
                  <a:lnTo>
                    <a:pt x="10214437" y="1125161"/>
                  </a:lnTo>
                  <a:lnTo>
                    <a:pt x="10183436" y="1156162"/>
                  </a:lnTo>
                  <a:lnTo>
                    <a:pt x="10146272" y="1179797"/>
                  </a:lnTo>
                  <a:lnTo>
                    <a:pt x="10104149" y="1194861"/>
                  </a:lnTo>
                  <a:lnTo>
                    <a:pt x="10058273" y="1200150"/>
                  </a:lnTo>
                  <a:lnTo>
                    <a:pt x="200025" y="1200150"/>
                  </a:lnTo>
                  <a:lnTo>
                    <a:pt x="154155" y="1194861"/>
                  </a:lnTo>
                  <a:lnTo>
                    <a:pt x="112050" y="1179797"/>
                  </a:lnTo>
                  <a:lnTo>
                    <a:pt x="74911" y="1156162"/>
                  </a:lnTo>
                  <a:lnTo>
                    <a:pt x="43937" y="1125161"/>
                  </a:lnTo>
                  <a:lnTo>
                    <a:pt x="20327" y="1087997"/>
                  </a:lnTo>
                  <a:lnTo>
                    <a:pt x="5281" y="1045874"/>
                  </a:lnTo>
                  <a:lnTo>
                    <a:pt x="0" y="999998"/>
                  </a:lnTo>
                  <a:lnTo>
                    <a:pt x="0" y="200025"/>
                  </a:lnTo>
                  <a:close/>
                </a:path>
              </a:pathLst>
            </a:custGeom>
            <a:ln w="25400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21">
            <a:extLst>
              <a:ext uri="{FF2B5EF4-FFF2-40B4-BE49-F238E27FC236}">
                <a16:creationId xmlns:a16="http://schemas.microsoft.com/office/drawing/2014/main" id="{124F6346-D50C-40FD-99C6-766C464A2DCF}"/>
              </a:ext>
            </a:extLst>
          </p:cNvPr>
          <p:cNvGrpSpPr/>
          <p:nvPr/>
        </p:nvGrpSpPr>
        <p:grpSpPr>
          <a:xfrm>
            <a:off x="5107051" y="5135626"/>
            <a:ext cx="10274300" cy="1330325"/>
            <a:chOff x="5107051" y="5135626"/>
            <a:chExt cx="10274300" cy="1330325"/>
          </a:xfrm>
        </p:grpSpPr>
        <p:sp>
          <p:nvSpPr>
            <p:cNvPr id="47" name="object 22">
              <a:extLst>
                <a:ext uri="{FF2B5EF4-FFF2-40B4-BE49-F238E27FC236}">
                  <a16:creationId xmlns:a16="http://schemas.microsoft.com/office/drawing/2014/main" id="{3C78D744-5432-4EE2-9A07-6D8006623314}"/>
                </a:ext>
              </a:extLst>
            </p:cNvPr>
            <p:cNvSpPr/>
            <p:nvPr/>
          </p:nvSpPr>
          <p:spPr>
            <a:xfrm>
              <a:off x="5119751" y="5148326"/>
              <a:ext cx="10248900" cy="1304925"/>
            </a:xfrm>
            <a:custGeom>
              <a:avLst/>
              <a:gdLst/>
              <a:ahLst/>
              <a:cxnLst/>
              <a:rect l="l" t="t" r="r" b="b"/>
              <a:pathLst>
                <a:path w="10248900" h="1304925">
                  <a:moveTo>
                    <a:pt x="10031349" y="0"/>
                  </a:moveTo>
                  <a:lnTo>
                    <a:pt x="217424" y="0"/>
                  </a:lnTo>
                  <a:lnTo>
                    <a:pt x="167551" y="5739"/>
                  </a:lnTo>
                  <a:lnTo>
                    <a:pt x="121779" y="22088"/>
                  </a:lnTo>
                  <a:lnTo>
                    <a:pt x="81410" y="47746"/>
                  </a:lnTo>
                  <a:lnTo>
                    <a:pt x="47746" y="81410"/>
                  </a:lnTo>
                  <a:lnTo>
                    <a:pt x="22088" y="121779"/>
                  </a:lnTo>
                  <a:lnTo>
                    <a:pt x="5739" y="167551"/>
                  </a:lnTo>
                  <a:lnTo>
                    <a:pt x="0" y="217424"/>
                  </a:lnTo>
                  <a:lnTo>
                    <a:pt x="0" y="1087374"/>
                  </a:lnTo>
                  <a:lnTo>
                    <a:pt x="5739" y="1137253"/>
                  </a:lnTo>
                  <a:lnTo>
                    <a:pt x="22088" y="1183043"/>
                  </a:lnTo>
                  <a:lnTo>
                    <a:pt x="47746" y="1223437"/>
                  </a:lnTo>
                  <a:lnTo>
                    <a:pt x="81410" y="1257128"/>
                  </a:lnTo>
                  <a:lnTo>
                    <a:pt x="121779" y="1282811"/>
                  </a:lnTo>
                  <a:lnTo>
                    <a:pt x="167551" y="1299178"/>
                  </a:lnTo>
                  <a:lnTo>
                    <a:pt x="217424" y="1304925"/>
                  </a:lnTo>
                  <a:lnTo>
                    <a:pt x="10031349" y="1304925"/>
                  </a:lnTo>
                  <a:lnTo>
                    <a:pt x="10081228" y="1299178"/>
                  </a:lnTo>
                  <a:lnTo>
                    <a:pt x="10127018" y="1282811"/>
                  </a:lnTo>
                  <a:lnTo>
                    <a:pt x="10167412" y="1257128"/>
                  </a:lnTo>
                  <a:lnTo>
                    <a:pt x="10201103" y="1223437"/>
                  </a:lnTo>
                  <a:lnTo>
                    <a:pt x="10226786" y="1183043"/>
                  </a:lnTo>
                  <a:lnTo>
                    <a:pt x="10243153" y="1137253"/>
                  </a:lnTo>
                  <a:lnTo>
                    <a:pt x="10248900" y="1087374"/>
                  </a:lnTo>
                  <a:lnTo>
                    <a:pt x="10248900" y="217424"/>
                  </a:lnTo>
                  <a:lnTo>
                    <a:pt x="10243153" y="167551"/>
                  </a:lnTo>
                  <a:lnTo>
                    <a:pt x="10226786" y="121779"/>
                  </a:lnTo>
                  <a:lnTo>
                    <a:pt x="10201103" y="81410"/>
                  </a:lnTo>
                  <a:lnTo>
                    <a:pt x="10167412" y="47746"/>
                  </a:lnTo>
                  <a:lnTo>
                    <a:pt x="10127018" y="22088"/>
                  </a:lnTo>
                  <a:lnTo>
                    <a:pt x="10081228" y="5739"/>
                  </a:lnTo>
                  <a:lnTo>
                    <a:pt x="10031349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3">
              <a:extLst>
                <a:ext uri="{FF2B5EF4-FFF2-40B4-BE49-F238E27FC236}">
                  <a16:creationId xmlns:a16="http://schemas.microsoft.com/office/drawing/2014/main" id="{639A311D-115A-4D41-848A-F99AB4AA5119}"/>
                </a:ext>
              </a:extLst>
            </p:cNvPr>
            <p:cNvSpPr/>
            <p:nvPr/>
          </p:nvSpPr>
          <p:spPr>
            <a:xfrm>
              <a:off x="5119751" y="5148326"/>
              <a:ext cx="10248900" cy="1304925"/>
            </a:xfrm>
            <a:custGeom>
              <a:avLst/>
              <a:gdLst/>
              <a:ahLst/>
              <a:cxnLst/>
              <a:rect l="l" t="t" r="r" b="b"/>
              <a:pathLst>
                <a:path w="10248900" h="1304925">
                  <a:moveTo>
                    <a:pt x="0" y="217424"/>
                  </a:moveTo>
                  <a:lnTo>
                    <a:pt x="5739" y="167551"/>
                  </a:lnTo>
                  <a:lnTo>
                    <a:pt x="22088" y="121779"/>
                  </a:lnTo>
                  <a:lnTo>
                    <a:pt x="47746" y="81410"/>
                  </a:lnTo>
                  <a:lnTo>
                    <a:pt x="81410" y="47746"/>
                  </a:lnTo>
                  <a:lnTo>
                    <a:pt x="121779" y="22088"/>
                  </a:lnTo>
                  <a:lnTo>
                    <a:pt x="167551" y="5739"/>
                  </a:lnTo>
                  <a:lnTo>
                    <a:pt x="217424" y="0"/>
                  </a:lnTo>
                  <a:lnTo>
                    <a:pt x="10031349" y="0"/>
                  </a:lnTo>
                  <a:lnTo>
                    <a:pt x="10081228" y="5739"/>
                  </a:lnTo>
                  <a:lnTo>
                    <a:pt x="10127018" y="22088"/>
                  </a:lnTo>
                  <a:lnTo>
                    <a:pt x="10167412" y="47746"/>
                  </a:lnTo>
                  <a:lnTo>
                    <a:pt x="10201103" y="81410"/>
                  </a:lnTo>
                  <a:lnTo>
                    <a:pt x="10226786" y="121779"/>
                  </a:lnTo>
                  <a:lnTo>
                    <a:pt x="10243153" y="167551"/>
                  </a:lnTo>
                  <a:lnTo>
                    <a:pt x="10248900" y="217424"/>
                  </a:lnTo>
                  <a:lnTo>
                    <a:pt x="10248900" y="1087374"/>
                  </a:lnTo>
                  <a:lnTo>
                    <a:pt x="10243153" y="1137253"/>
                  </a:lnTo>
                  <a:lnTo>
                    <a:pt x="10226786" y="1183043"/>
                  </a:lnTo>
                  <a:lnTo>
                    <a:pt x="10201103" y="1223437"/>
                  </a:lnTo>
                  <a:lnTo>
                    <a:pt x="10167412" y="1257128"/>
                  </a:lnTo>
                  <a:lnTo>
                    <a:pt x="10127018" y="1282811"/>
                  </a:lnTo>
                  <a:lnTo>
                    <a:pt x="10081228" y="1299178"/>
                  </a:lnTo>
                  <a:lnTo>
                    <a:pt x="10031349" y="1304925"/>
                  </a:lnTo>
                  <a:lnTo>
                    <a:pt x="217424" y="1304925"/>
                  </a:lnTo>
                  <a:lnTo>
                    <a:pt x="167551" y="1299178"/>
                  </a:lnTo>
                  <a:lnTo>
                    <a:pt x="121779" y="1282811"/>
                  </a:lnTo>
                  <a:lnTo>
                    <a:pt x="81410" y="1257128"/>
                  </a:lnTo>
                  <a:lnTo>
                    <a:pt x="47746" y="1223437"/>
                  </a:lnTo>
                  <a:lnTo>
                    <a:pt x="22088" y="1183043"/>
                  </a:lnTo>
                  <a:lnTo>
                    <a:pt x="5739" y="1137253"/>
                  </a:lnTo>
                  <a:lnTo>
                    <a:pt x="0" y="1087374"/>
                  </a:lnTo>
                  <a:lnTo>
                    <a:pt x="0" y="217424"/>
                  </a:lnTo>
                  <a:close/>
                </a:path>
              </a:pathLst>
            </a:custGeom>
            <a:ln w="25400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25">
            <a:extLst>
              <a:ext uri="{FF2B5EF4-FFF2-40B4-BE49-F238E27FC236}">
                <a16:creationId xmlns:a16="http://schemas.microsoft.com/office/drawing/2014/main" id="{633869A9-4777-4AE7-87E3-215BB0F7CC33}"/>
              </a:ext>
            </a:extLst>
          </p:cNvPr>
          <p:cNvGrpSpPr/>
          <p:nvPr/>
        </p:nvGrpSpPr>
        <p:grpSpPr>
          <a:xfrm>
            <a:off x="2220976" y="7135748"/>
            <a:ext cx="10283825" cy="1216025"/>
            <a:chOff x="2220976" y="7135748"/>
            <a:chExt cx="10283825" cy="1216025"/>
          </a:xfrm>
        </p:grpSpPr>
        <p:sp>
          <p:nvSpPr>
            <p:cNvPr id="51" name="object 26">
              <a:extLst>
                <a:ext uri="{FF2B5EF4-FFF2-40B4-BE49-F238E27FC236}">
                  <a16:creationId xmlns:a16="http://schemas.microsoft.com/office/drawing/2014/main" id="{658FF4E8-41FE-4109-83DB-BDA93594ADAF}"/>
                </a:ext>
              </a:extLst>
            </p:cNvPr>
            <p:cNvSpPr/>
            <p:nvPr/>
          </p:nvSpPr>
          <p:spPr>
            <a:xfrm>
              <a:off x="2233676" y="7148448"/>
              <a:ext cx="10258425" cy="1190625"/>
            </a:xfrm>
            <a:custGeom>
              <a:avLst/>
              <a:gdLst/>
              <a:ahLst/>
              <a:cxnLst/>
              <a:rect l="l" t="t" r="r" b="b"/>
              <a:pathLst>
                <a:path w="10258425" h="1190625">
                  <a:moveTo>
                    <a:pt x="10059924" y="0"/>
                  </a:moveTo>
                  <a:lnTo>
                    <a:pt x="198374" y="0"/>
                  </a:lnTo>
                  <a:lnTo>
                    <a:pt x="152875" y="5244"/>
                  </a:lnTo>
                  <a:lnTo>
                    <a:pt x="111115" y="20180"/>
                  </a:lnTo>
                  <a:lnTo>
                    <a:pt x="74283" y="43617"/>
                  </a:lnTo>
                  <a:lnTo>
                    <a:pt x="43567" y="74360"/>
                  </a:lnTo>
                  <a:lnTo>
                    <a:pt x="20155" y="111217"/>
                  </a:lnTo>
                  <a:lnTo>
                    <a:pt x="5236" y="152995"/>
                  </a:lnTo>
                  <a:lnTo>
                    <a:pt x="0" y="198500"/>
                  </a:lnTo>
                  <a:lnTo>
                    <a:pt x="0" y="992251"/>
                  </a:lnTo>
                  <a:lnTo>
                    <a:pt x="5236" y="1037749"/>
                  </a:lnTo>
                  <a:lnTo>
                    <a:pt x="20155" y="1079509"/>
                  </a:lnTo>
                  <a:lnTo>
                    <a:pt x="43567" y="1116341"/>
                  </a:lnTo>
                  <a:lnTo>
                    <a:pt x="74283" y="1147057"/>
                  </a:lnTo>
                  <a:lnTo>
                    <a:pt x="111115" y="1170469"/>
                  </a:lnTo>
                  <a:lnTo>
                    <a:pt x="152875" y="1185388"/>
                  </a:lnTo>
                  <a:lnTo>
                    <a:pt x="198374" y="1190625"/>
                  </a:lnTo>
                  <a:lnTo>
                    <a:pt x="10059924" y="1190625"/>
                  </a:lnTo>
                  <a:lnTo>
                    <a:pt x="10105429" y="1185388"/>
                  </a:lnTo>
                  <a:lnTo>
                    <a:pt x="10147207" y="1170469"/>
                  </a:lnTo>
                  <a:lnTo>
                    <a:pt x="10184064" y="1147057"/>
                  </a:lnTo>
                  <a:lnTo>
                    <a:pt x="10214807" y="1116341"/>
                  </a:lnTo>
                  <a:lnTo>
                    <a:pt x="10238244" y="1079509"/>
                  </a:lnTo>
                  <a:lnTo>
                    <a:pt x="10253180" y="1037749"/>
                  </a:lnTo>
                  <a:lnTo>
                    <a:pt x="10258425" y="992251"/>
                  </a:lnTo>
                  <a:lnTo>
                    <a:pt x="10258425" y="198500"/>
                  </a:lnTo>
                  <a:lnTo>
                    <a:pt x="10253180" y="152995"/>
                  </a:lnTo>
                  <a:lnTo>
                    <a:pt x="10238244" y="111217"/>
                  </a:lnTo>
                  <a:lnTo>
                    <a:pt x="10214807" y="74360"/>
                  </a:lnTo>
                  <a:lnTo>
                    <a:pt x="10184064" y="43617"/>
                  </a:lnTo>
                  <a:lnTo>
                    <a:pt x="10147207" y="20180"/>
                  </a:lnTo>
                  <a:lnTo>
                    <a:pt x="10105429" y="5244"/>
                  </a:lnTo>
                  <a:lnTo>
                    <a:pt x="10059924" y="0"/>
                  </a:lnTo>
                  <a:close/>
                </a:path>
              </a:pathLst>
            </a:custGeom>
            <a:solidFill>
              <a:srgbClr val="94B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7">
              <a:extLst>
                <a:ext uri="{FF2B5EF4-FFF2-40B4-BE49-F238E27FC236}">
                  <a16:creationId xmlns:a16="http://schemas.microsoft.com/office/drawing/2014/main" id="{A58B6D36-78F2-4990-8E94-EDF79C10E275}"/>
                </a:ext>
              </a:extLst>
            </p:cNvPr>
            <p:cNvSpPr/>
            <p:nvPr/>
          </p:nvSpPr>
          <p:spPr>
            <a:xfrm>
              <a:off x="2233676" y="7148448"/>
              <a:ext cx="10258425" cy="1190625"/>
            </a:xfrm>
            <a:custGeom>
              <a:avLst/>
              <a:gdLst/>
              <a:ahLst/>
              <a:cxnLst/>
              <a:rect l="l" t="t" r="r" b="b"/>
              <a:pathLst>
                <a:path w="10258425" h="1190625">
                  <a:moveTo>
                    <a:pt x="0" y="198500"/>
                  </a:moveTo>
                  <a:lnTo>
                    <a:pt x="5236" y="152995"/>
                  </a:lnTo>
                  <a:lnTo>
                    <a:pt x="20155" y="111217"/>
                  </a:lnTo>
                  <a:lnTo>
                    <a:pt x="43567" y="74360"/>
                  </a:lnTo>
                  <a:lnTo>
                    <a:pt x="74283" y="43617"/>
                  </a:lnTo>
                  <a:lnTo>
                    <a:pt x="111115" y="20180"/>
                  </a:lnTo>
                  <a:lnTo>
                    <a:pt x="152875" y="5244"/>
                  </a:lnTo>
                  <a:lnTo>
                    <a:pt x="198374" y="0"/>
                  </a:lnTo>
                  <a:lnTo>
                    <a:pt x="10059924" y="0"/>
                  </a:lnTo>
                  <a:lnTo>
                    <a:pt x="10105429" y="5244"/>
                  </a:lnTo>
                  <a:lnTo>
                    <a:pt x="10147207" y="20180"/>
                  </a:lnTo>
                  <a:lnTo>
                    <a:pt x="10184064" y="43617"/>
                  </a:lnTo>
                  <a:lnTo>
                    <a:pt x="10214807" y="74360"/>
                  </a:lnTo>
                  <a:lnTo>
                    <a:pt x="10238244" y="111217"/>
                  </a:lnTo>
                  <a:lnTo>
                    <a:pt x="10253180" y="152995"/>
                  </a:lnTo>
                  <a:lnTo>
                    <a:pt x="10258425" y="198500"/>
                  </a:lnTo>
                  <a:lnTo>
                    <a:pt x="10258425" y="992251"/>
                  </a:lnTo>
                  <a:lnTo>
                    <a:pt x="10253180" y="1037749"/>
                  </a:lnTo>
                  <a:lnTo>
                    <a:pt x="10238244" y="1079509"/>
                  </a:lnTo>
                  <a:lnTo>
                    <a:pt x="10214807" y="1116341"/>
                  </a:lnTo>
                  <a:lnTo>
                    <a:pt x="10184064" y="1147057"/>
                  </a:lnTo>
                  <a:lnTo>
                    <a:pt x="10147207" y="1170469"/>
                  </a:lnTo>
                  <a:lnTo>
                    <a:pt x="10105429" y="1185388"/>
                  </a:lnTo>
                  <a:lnTo>
                    <a:pt x="10059924" y="1190625"/>
                  </a:lnTo>
                  <a:lnTo>
                    <a:pt x="198374" y="1190625"/>
                  </a:lnTo>
                  <a:lnTo>
                    <a:pt x="152875" y="1185388"/>
                  </a:lnTo>
                  <a:lnTo>
                    <a:pt x="111115" y="1170469"/>
                  </a:lnTo>
                  <a:lnTo>
                    <a:pt x="74283" y="1147057"/>
                  </a:lnTo>
                  <a:lnTo>
                    <a:pt x="43567" y="1116341"/>
                  </a:lnTo>
                  <a:lnTo>
                    <a:pt x="20155" y="1079509"/>
                  </a:lnTo>
                  <a:lnTo>
                    <a:pt x="5236" y="1037749"/>
                  </a:lnTo>
                  <a:lnTo>
                    <a:pt x="0" y="992251"/>
                  </a:lnTo>
                  <a:lnTo>
                    <a:pt x="0" y="198500"/>
                  </a:lnTo>
                  <a:close/>
                </a:path>
              </a:pathLst>
            </a:custGeom>
            <a:ln w="25400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28">
            <a:extLst>
              <a:ext uri="{FF2B5EF4-FFF2-40B4-BE49-F238E27FC236}">
                <a16:creationId xmlns:a16="http://schemas.microsoft.com/office/drawing/2014/main" id="{488A5657-D950-4084-94EA-BB8C4CFF8999}"/>
              </a:ext>
            </a:extLst>
          </p:cNvPr>
          <p:cNvSpPr txBox="1"/>
          <p:nvPr/>
        </p:nvSpPr>
        <p:spPr>
          <a:xfrm>
            <a:off x="2667000" y="7409014"/>
            <a:ext cx="9062720" cy="74629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188970" marR="5080" indent="-3176270">
              <a:lnSpc>
                <a:spcPct val="102400"/>
              </a:lnSpc>
              <a:spcBef>
                <a:spcPts val="45"/>
              </a:spcBef>
            </a:pPr>
            <a:r>
              <a:rPr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sz="2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Group 10">
            <a:extLst>
              <a:ext uri="{FF2B5EF4-FFF2-40B4-BE49-F238E27FC236}">
                <a16:creationId xmlns:a16="http://schemas.microsoft.com/office/drawing/2014/main" id="{DA956C7D-8841-46C2-A2C1-4453DE299BE7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BAE9E0BC-E540-4AF7-A2D3-BBBED00E9946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3" name="TextBox 12">
              <a:extLst>
                <a:ext uri="{FF2B5EF4-FFF2-40B4-BE49-F238E27FC236}">
                  <a16:creationId xmlns:a16="http://schemas.microsoft.com/office/drawing/2014/main" id="{DE0C9EF2-792B-4E5B-8F4E-70E5AD5F7F4B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6DF851A-BECE-4C57-9160-3986B9E5CFB1}"/>
              </a:ext>
            </a:extLst>
          </p:cNvPr>
          <p:cNvSpPr txBox="1"/>
          <p:nvPr/>
        </p:nvSpPr>
        <p:spPr>
          <a:xfrm>
            <a:off x="2402839" y="3198831"/>
            <a:ext cx="990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 (Bi-directional Autoregressive Transformer)</a:t>
            </a:r>
            <a:r>
              <a:rPr lang="en-US" sz="24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excels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</a:t>
            </a:r>
            <a:r>
              <a:rPr lang="en-US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9E857-BE9D-485D-94DA-F2106742C90D}"/>
              </a:ext>
            </a:extLst>
          </p:cNvPr>
          <p:cNvSpPr txBox="1"/>
          <p:nvPr/>
        </p:nvSpPr>
        <p:spPr>
          <a:xfrm>
            <a:off x="5337814" y="5215830"/>
            <a:ext cx="99159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 (Pre-training with Extracted Gap-sentences for Abstractive Summarization)</a:t>
            </a:r>
            <a:r>
              <a:rPr lang="en-US" sz="2400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en-US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  <a:r>
              <a:rPr lang="en-US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capabilities,</a:t>
            </a:r>
            <a:r>
              <a:rPr lang="en-US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US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contextually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en-US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2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</a:t>
            </a:r>
            <a:r>
              <a:rPr lang="en-US" sz="2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515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3" grpId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204777E-3F70-4596-A33B-A1E8C61A0391}"/>
              </a:ext>
            </a:extLst>
          </p:cNvPr>
          <p:cNvGrpSpPr/>
          <p:nvPr/>
        </p:nvGrpSpPr>
        <p:grpSpPr>
          <a:xfrm rot="-10800000">
            <a:off x="-30480" y="28385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D7E73F1-E0B9-4AFD-9962-6D19E372162F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A302A2B-F439-4FFE-AC9C-4AEE982A43BD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A034E265-1EF0-491C-B9C5-4D6DED704427}"/>
              </a:ext>
            </a:extLst>
          </p:cNvPr>
          <p:cNvGrpSpPr/>
          <p:nvPr/>
        </p:nvGrpSpPr>
        <p:grpSpPr>
          <a:xfrm>
            <a:off x="12459713" y="87468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FC0AD75-AB18-4A2A-9913-66F754DBE6B8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C00C1946-231E-4431-A686-C63D34C191DF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859CCAD6-3881-45BE-A752-F3D886F3E2F5}"/>
              </a:ext>
            </a:extLst>
          </p:cNvPr>
          <p:cNvGrpSpPr/>
          <p:nvPr/>
        </p:nvGrpSpPr>
        <p:grpSpPr>
          <a:xfrm rot="-5400000">
            <a:off x="8801469" y="62068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28D149A8-132F-45A1-8337-06DA9164F59D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4597E3B4-15F3-4B0C-810C-2950EDBF9C99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091E4892-34FD-410F-8C21-2D2E285C6046}"/>
              </a:ext>
            </a:extLst>
          </p:cNvPr>
          <p:cNvSpPr txBox="1"/>
          <p:nvPr/>
        </p:nvSpPr>
        <p:spPr>
          <a:xfrm>
            <a:off x="1103436" y="-429869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Models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15053E9F-F304-4B02-BCDC-69468E20F1FC}"/>
              </a:ext>
            </a:extLst>
          </p:cNvPr>
          <p:cNvSpPr/>
          <p:nvPr/>
        </p:nvSpPr>
        <p:spPr>
          <a:xfrm>
            <a:off x="102142" y="2302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00793890-C721-4BE9-902F-1A80B89A8EB8}"/>
              </a:ext>
            </a:extLst>
          </p:cNvPr>
          <p:cNvSpPr/>
          <p:nvPr/>
        </p:nvSpPr>
        <p:spPr>
          <a:xfrm>
            <a:off x="16920045" y="39481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D896C730-9C42-4DEF-9E65-92DF3AE504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518D60-C9C1-408E-8BAE-F76A2A079B41}"/>
              </a:ext>
            </a:extLst>
          </p:cNvPr>
          <p:cNvSpPr/>
          <p:nvPr/>
        </p:nvSpPr>
        <p:spPr>
          <a:xfrm>
            <a:off x="2831816" y="4014928"/>
            <a:ext cx="20649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Code T5</a:t>
            </a:r>
            <a:endParaRPr lang="en-US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A0565B-2175-4C3D-81C8-A6E5F24125FA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10587" y="1893101"/>
            <a:ext cx="5896655" cy="21472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2054F3-45E0-496A-AB56-4008FF4E5111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092" y="5433383"/>
            <a:ext cx="6199323" cy="20912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FD3EA0-A801-44D6-BD31-760CD45082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0" y="1893986"/>
            <a:ext cx="6156415" cy="22304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0C4FFA-8821-439E-A11C-16E15EEB52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982" y="5433382"/>
            <a:ext cx="5896655" cy="214722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1CD9CA8-FD6F-4C45-B6CC-723AB22965C7}"/>
              </a:ext>
            </a:extLst>
          </p:cNvPr>
          <p:cNvSpPr/>
          <p:nvPr/>
        </p:nvSpPr>
        <p:spPr>
          <a:xfrm>
            <a:off x="2936010" y="7649858"/>
            <a:ext cx="18565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Flan T5</a:t>
            </a:r>
            <a:endParaRPr lang="en-US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A0F50F-5646-4A8D-9F52-2334FF9FBD92}"/>
              </a:ext>
            </a:extLst>
          </p:cNvPr>
          <p:cNvSpPr/>
          <p:nvPr/>
        </p:nvSpPr>
        <p:spPr>
          <a:xfrm>
            <a:off x="14189652" y="4051794"/>
            <a:ext cx="117532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Bart</a:t>
            </a:r>
            <a:endParaRPr lang="en-US" sz="4400" b="1" u="sng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451417-CA90-449F-9CDD-A8C1109D45D2}"/>
              </a:ext>
            </a:extLst>
          </p:cNvPr>
          <p:cNvSpPr/>
          <p:nvPr/>
        </p:nvSpPr>
        <p:spPr>
          <a:xfrm>
            <a:off x="13865273" y="7451957"/>
            <a:ext cx="204786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Pegasus</a:t>
            </a:r>
            <a:endParaRPr lang="en-US" sz="4400" b="1" u="sng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0C6CB-FAE4-4A2B-BD2D-A0B7D71A3D51}"/>
              </a:ext>
            </a:extLst>
          </p:cNvPr>
          <p:cNvSpPr txBox="1"/>
          <p:nvPr/>
        </p:nvSpPr>
        <p:spPr>
          <a:xfrm>
            <a:off x="7162800" y="2347505"/>
            <a:ext cx="43125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 excels at mapping NL input to precise MongoDB queries, making it more effective for the initial phase compared to CodeT5.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DCA54C-06E2-4A65-98E6-4537284FC977}"/>
              </a:ext>
            </a:extLst>
          </p:cNvPr>
          <p:cNvSpPr txBox="1"/>
          <p:nvPr/>
        </p:nvSpPr>
        <p:spPr>
          <a:xfrm>
            <a:off x="7188200" y="5663397"/>
            <a:ext cx="43125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 delivers precise, informative summaries and fluent translations, making it a robust choice for summarization and translation tasks than FlanT5.</a:t>
            </a:r>
          </a:p>
        </p:txBody>
      </p:sp>
    </p:spTree>
    <p:extLst>
      <p:ext uri="{BB962C8B-B14F-4D97-AF65-F5344CB8AC3E}">
        <p14:creationId xmlns:p14="http://schemas.microsoft.com/office/powerpoint/2010/main" val="30775421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  <p:bldP spid="24" grpId="0"/>
      <p:bldP spid="25" grpId="0"/>
      <p:bldP spid="2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>
            <a:extLst>
              <a:ext uri="{FF2B5EF4-FFF2-40B4-BE49-F238E27FC236}">
                <a16:creationId xmlns:a16="http://schemas.microsoft.com/office/drawing/2014/main" id="{D47AE54B-87E8-4E6F-97B6-3430D89A541C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B5CDA26C-7C5C-4FA9-ADB3-F45BA6E2A6D3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F266CCB3-6A20-4921-944F-149158F269DB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530E5EE4-5A95-4A3F-9244-6087B73F3520}"/>
              </a:ext>
            </a:extLst>
          </p:cNvPr>
          <p:cNvSpPr txBox="1"/>
          <p:nvPr/>
        </p:nvSpPr>
        <p:spPr>
          <a:xfrm>
            <a:off x="1133916" y="-467969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System Architecture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79B3420B-0207-4939-A01D-49A06BBF31F6}"/>
              </a:ext>
            </a:extLst>
          </p:cNvPr>
          <p:cNvSpPr/>
          <p:nvPr/>
        </p:nvSpPr>
        <p:spPr>
          <a:xfrm>
            <a:off x="132622" y="1921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C022B088-A0A7-421A-A53E-503E82E09F30}"/>
              </a:ext>
            </a:extLst>
          </p:cNvPr>
          <p:cNvSpPr/>
          <p:nvPr/>
        </p:nvSpPr>
        <p:spPr>
          <a:xfrm>
            <a:off x="17076657" y="127298"/>
            <a:ext cx="1101954" cy="1024373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512C73-C4AD-4EFC-8829-F87F26DF34A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917" t="44814" r="24167" b="1112"/>
          <a:stretch/>
        </p:blipFill>
        <p:spPr>
          <a:xfrm>
            <a:off x="1019773" y="943572"/>
            <a:ext cx="16082616" cy="902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291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>
            <a:extLst>
              <a:ext uri="{FF2B5EF4-FFF2-40B4-BE49-F238E27FC236}">
                <a16:creationId xmlns:a16="http://schemas.microsoft.com/office/drawing/2014/main" id="{A0636C96-8E2E-48A3-A4B9-7371E94D5100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8378DCC4-4562-42BA-9CE4-32E485E77786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7805C805-340F-4DB8-8EE1-43A0DAB3DB1B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89320F7B-C344-4121-856C-3809FB7315E5}"/>
              </a:ext>
            </a:extLst>
          </p:cNvPr>
          <p:cNvSpPr txBox="1"/>
          <p:nvPr/>
        </p:nvSpPr>
        <p:spPr>
          <a:xfrm>
            <a:off x="1221694" y="-510683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Model’s Representation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7AD94939-CC1D-4596-AFAD-14EEB36500AE}"/>
              </a:ext>
            </a:extLst>
          </p:cNvPr>
          <p:cNvSpPr/>
          <p:nvPr/>
        </p:nvSpPr>
        <p:spPr>
          <a:xfrm>
            <a:off x="186463" y="85372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65E21B18-56FD-4496-80C1-F9B6E29DAE02}"/>
              </a:ext>
            </a:extLst>
          </p:cNvPr>
          <p:cNvSpPr/>
          <p:nvPr/>
        </p:nvSpPr>
        <p:spPr>
          <a:xfrm>
            <a:off x="17182119" y="85372"/>
            <a:ext cx="919418" cy="816216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18180F-F722-44EB-86E2-B22274E7854C}"/>
              </a:ext>
            </a:extLst>
          </p:cNvPr>
          <p:cNvSpPr/>
          <p:nvPr/>
        </p:nvSpPr>
        <p:spPr>
          <a:xfrm>
            <a:off x="685800" y="2705100"/>
            <a:ext cx="3976729" cy="1981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234929-F725-47BE-8757-06B4E0122B1D}"/>
              </a:ext>
            </a:extLst>
          </p:cNvPr>
          <p:cNvSpPr txBox="1"/>
          <p:nvPr/>
        </p:nvSpPr>
        <p:spPr>
          <a:xfrm>
            <a:off x="838200" y="2752941"/>
            <a:ext cx="304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arajita" panose="02020603050405020304" pitchFamily="18" charset="0"/>
                <a:cs typeface="Aparajita" panose="02020603050405020304" pitchFamily="18" charset="0"/>
              </a:rPr>
              <a:t>BART</a:t>
            </a:r>
          </a:p>
        </p:txBody>
      </p:sp>
      <p:pic>
        <p:nvPicPr>
          <p:cNvPr id="19" name="Picture 4" descr="NLP Icon - Free PNG &amp; SVG 4456577 - Noun Project">
            <a:extLst>
              <a:ext uri="{FF2B5EF4-FFF2-40B4-BE49-F238E27FC236}">
                <a16:creationId xmlns:a16="http://schemas.microsoft.com/office/drawing/2014/main" id="{BB9C51E4-9A8F-4CCA-9CCF-57ED141A8F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5274" r="20126" b="10034"/>
          <a:stretch/>
        </p:blipFill>
        <p:spPr bwMode="auto">
          <a:xfrm>
            <a:off x="1086314" y="3314261"/>
            <a:ext cx="800968" cy="84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EBFB8C-4C8B-49CE-86BA-9527590723E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7715"/>
          <a:stretch/>
        </p:blipFill>
        <p:spPr>
          <a:xfrm>
            <a:off x="3195564" y="3276161"/>
            <a:ext cx="903829" cy="89005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C900CCB-AEB0-486D-9B62-9A6FA52C82C5}"/>
              </a:ext>
            </a:extLst>
          </p:cNvPr>
          <p:cNvSpPr/>
          <p:nvPr/>
        </p:nvSpPr>
        <p:spPr>
          <a:xfrm>
            <a:off x="1169884" y="4117885"/>
            <a:ext cx="63382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NLQ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74F70C-77D4-4457-9AD1-3F3A3DB8EF19}"/>
              </a:ext>
            </a:extLst>
          </p:cNvPr>
          <p:cNvSpPr/>
          <p:nvPr/>
        </p:nvSpPr>
        <p:spPr>
          <a:xfrm>
            <a:off x="3233903" y="4172688"/>
            <a:ext cx="827150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Query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AC38C2-7C03-4CD0-8A56-355CBDC50E9C}"/>
              </a:ext>
            </a:extLst>
          </p:cNvPr>
          <p:cNvCxnSpPr/>
          <p:nvPr/>
        </p:nvCxnSpPr>
        <p:spPr>
          <a:xfrm>
            <a:off x="2057400" y="3695700"/>
            <a:ext cx="990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DD0302-9733-4CC1-AB1A-CF32358958C1}"/>
              </a:ext>
            </a:extLst>
          </p:cNvPr>
          <p:cNvSpPr/>
          <p:nvPr/>
        </p:nvSpPr>
        <p:spPr>
          <a:xfrm>
            <a:off x="685800" y="6362700"/>
            <a:ext cx="3976729" cy="2209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556CDE-3BF1-4ADB-9111-28F5FBA51AB6}"/>
              </a:ext>
            </a:extLst>
          </p:cNvPr>
          <p:cNvSpPr txBox="1"/>
          <p:nvPr/>
        </p:nvSpPr>
        <p:spPr>
          <a:xfrm>
            <a:off x="865479" y="6405890"/>
            <a:ext cx="304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arajita" panose="02020603050405020304" pitchFamily="18" charset="0"/>
                <a:cs typeface="Aparajita" panose="02020603050405020304" pitchFamily="18" charset="0"/>
              </a:rPr>
              <a:t>PEGASUS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770BBB-5A5B-4C05-8C82-F67638917704}"/>
              </a:ext>
            </a:extLst>
          </p:cNvPr>
          <p:cNvCxnSpPr/>
          <p:nvPr/>
        </p:nvCxnSpPr>
        <p:spPr>
          <a:xfrm>
            <a:off x="2057400" y="7360910"/>
            <a:ext cx="990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AE86923A-9872-4250-BFE8-884735CA69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7697" y="6941810"/>
            <a:ext cx="838200" cy="838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CD0B899-B14E-45F4-8B19-1CF8232D40C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353" t="18889" r="9260" b="18889"/>
          <a:stretch/>
        </p:blipFill>
        <p:spPr>
          <a:xfrm>
            <a:off x="3233903" y="7003209"/>
            <a:ext cx="1053361" cy="83613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DB69920-6A21-400A-9952-27CB7D80B4F2}"/>
              </a:ext>
            </a:extLst>
          </p:cNvPr>
          <p:cNvSpPr/>
          <p:nvPr/>
        </p:nvSpPr>
        <p:spPr>
          <a:xfrm>
            <a:off x="919938" y="7773080"/>
            <a:ext cx="12426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Retrieved </a:t>
            </a:r>
          </a:p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JSON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2851A0-6903-471C-865C-E34AECB967A3}"/>
              </a:ext>
            </a:extLst>
          </p:cNvPr>
          <p:cNvSpPr txBox="1"/>
          <p:nvPr/>
        </p:nvSpPr>
        <p:spPr>
          <a:xfrm>
            <a:off x="2805686" y="7855353"/>
            <a:ext cx="2044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Natural Language Query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EA1869-4860-4A52-8BC6-DC61294D16C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7" t="7616" r="15829" b="7772"/>
          <a:stretch/>
        </p:blipFill>
        <p:spPr>
          <a:xfrm>
            <a:off x="5121212" y="1104900"/>
            <a:ext cx="12785787" cy="88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54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  <p:bldP spid="21" grpId="0"/>
      <p:bldP spid="22" grpId="0"/>
      <p:bldP spid="25" grpId="0" animBg="1"/>
      <p:bldP spid="26" grpId="0"/>
      <p:bldP spid="31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3">
            <a:extLst>
              <a:ext uri="{FF2B5EF4-FFF2-40B4-BE49-F238E27FC236}">
                <a16:creationId xmlns:a16="http://schemas.microsoft.com/office/drawing/2014/main" id="{553A4057-20D4-4007-A29F-1DC6188B4FF5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57B3E2A1-0DED-4B60-9521-963F37E4D9D2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7858AA59-F168-4EA1-B2C4-4C0F2CC733C4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29">
            <a:extLst>
              <a:ext uri="{FF2B5EF4-FFF2-40B4-BE49-F238E27FC236}">
                <a16:creationId xmlns:a16="http://schemas.microsoft.com/office/drawing/2014/main" id="{46A0226D-AF01-4BF3-8815-B74B8C46FBFD}"/>
              </a:ext>
            </a:extLst>
          </p:cNvPr>
          <p:cNvSpPr txBox="1"/>
          <p:nvPr/>
        </p:nvSpPr>
        <p:spPr>
          <a:xfrm>
            <a:off x="1066800" y="-181662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UI Flow Diagram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9D640E8C-1E15-405D-B8E3-5B11C630CBA7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35C5BF10-2908-4DE5-9D22-BCE540EB66B6}"/>
              </a:ext>
            </a:extLst>
          </p:cNvPr>
          <p:cNvSpPr/>
          <p:nvPr/>
        </p:nvSpPr>
        <p:spPr>
          <a:xfrm>
            <a:off x="16793045" y="93996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37F4B-BDA8-41FC-8AC7-013F349AEC7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6" b="21108"/>
          <a:stretch/>
        </p:blipFill>
        <p:spPr>
          <a:xfrm>
            <a:off x="1143" y="2476500"/>
            <a:ext cx="18285714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294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9">
            <a:extLst>
              <a:ext uri="{FF2B5EF4-FFF2-40B4-BE49-F238E27FC236}">
                <a16:creationId xmlns:a16="http://schemas.microsoft.com/office/drawing/2014/main" id="{E03E200A-1F9C-4628-BB6D-4B5FCE2AE11E}"/>
              </a:ext>
            </a:extLst>
          </p:cNvPr>
          <p:cNvSpPr txBox="1"/>
          <p:nvPr/>
        </p:nvSpPr>
        <p:spPr>
          <a:xfrm>
            <a:off x="1088855" y="-139758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Output – User Interface (Patient)</a:t>
            </a:r>
          </a:p>
        </p:txBody>
      </p:sp>
      <p:sp>
        <p:nvSpPr>
          <p:cNvPr id="3" name="Freeform 30">
            <a:extLst>
              <a:ext uri="{FF2B5EF4-FFF2-40B4-BE49-F238E27FC236}">
                <a16:creationId xmlns:a16="http://schemas.microsoft.com/office/drawing/2014/main" id="{9C2F4071-78CE-42BF-8610-B6E2E34CF17B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53AC8284-A573-4A4E-BE2D-06F5FF6076D8}"/>
              </a:ext>
            </a:extLst>
          </p:cNvPr>
          <p:cNvSpPr/>
          <p:nvPr/>
        </p:nvSpPr>
        <p:spPr>
          <a:xfrm>
            <a:off x="16819193" y="100649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8016B-89C8-44AD-952C-46C85461B7E4}"/>
              </a:ext>
            </a:extLst>
          </p:cNvPr>
          <p:cNvSpPr/>
          <p:nvPr/>
        </p:nvSpPr>
        <p:spPr>
          <a:xfrm>
            <a:off x="6702498" y="9492159"/>
            <a:ext cx="488300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Patient’s Dashboard</a:t>
            </a:r>
            <a:endParaRPr lang="en-US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546EEA-B816-4B7C-89EB-1C9E68B5F2C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078" r="2500" b="5556"/>
          <a:stretch/>
        </p:blipFill>
        <p:spPr>
          <a:xfrm>
            <a:off x="914400" y="1480972"/>
            <a:ext cx="16078201" cy="8011187"/>
          </a:xfrm>
          <a:prstGeom prst="rect">
            <a:avLst/>
          </a:prstGeom>
          <a:ln w="127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428553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9">
            <a:extLst>
              <a:ext uri="{FF2B5EF4-FFF2-40B4-BE49-F238E27FC236}">
                <a16:creationId xmlns:a16="http://schemas.microsoft.com/office/drawing/2014/main" id="{B0F13AF8-47E2-452F-AE17-2BBA5AB3A43B}"/>
              </a:ext>
            </a:extLst>
          </p:cNvPr>
          <p:cNvSpPr txBox="1"/>
          <p:nvPr/>
        </p:nvSpPr>
        <p:spPr>
          <a:xfrm>
            <a:off x="1088855" y="-139758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Output – Records Retrieval </a:t>
            </a:r>
          </a:p>
        </p:txBody>
      </p:sp>
      <p:sp>
        <p:nvSpPr>
          <p:cNvPr id="3" name="Freeform 30">
            <a:extLst>
              <a:ext uri="{FF2B5EF4-FFF2-40B4-BE49-F238E27FC236}">
                <a16:creationId xmlns:a16="http://schemas.microsoft.com/office/drawing/2014/main" id="{5EF802F0-E819-44DA-9578-AA03B4DA969E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EEBF0A0C-E812-40DC-AC87-DFFE3DE2C57E}"/>
              </a:ext>
            </a:extLst>
          </p:cNvPr>
          <p:cNvSpPr/>
          <p:nvPr/>
        </p:nvSpPr>
        <p:spPr>
          <a:xfrm>
            <a:off x="17391441" y="170853"/>
            <a:ext cx="795707" cy="675989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D24C71-4339-4845-BCE4-A13E013BF12C}"/>
              </a:ext>
            </a:extLst>
          </p:cNvPr>
          <p:cNvSpPr/>
          <p:nvPr/>
        </p:nvSpPr>
        <p:spPr>
          <a:xfrm>
            <a:off x="3276600" y="5191364"/>
            <a:ext cx="208191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Patients</a:t>
            </a:r>
            <a:endParaRPr lang="en-US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A4EBAB-AA8D-4391-8BB8-69CE228DEEB4}"/>
              </a:ext>
            </a:extLst>
          </p:cNvPr>
          <p:cNvSpPr/>
          <p:nvPr/>
        </p:nvSpPr>
        <p:spPr>
          <a:xfrm>
            <a:off x="12518333" y="5228254"/>
            <a:ext cx="245496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Insurance</a:t>
            </a:r>
            <a:endParaRPr lang="en-US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8DFF7C-DE15-4A1E-8D4B-60A4BBE59A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69" r="6554"/>
          <a:stretch/>
        </p:blipFill>
        <p:spPr>
          <a:xfrm>
            <a:off x="135773" y="1376161"/>
            <a:ext cx="8582889" cy="392641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5097DE-1673-4AA8-88B2-4FA03B9917E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r="5822"/>
          <a:stretch/>
        </p:blipFill>
        <p:spPr>
          <a:xfrm>
            <a:off x="9569338" y="1376161"/>
            <a:ext cx="8582889" cy="392641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BED87C8-71DF-46C5-AFAD-B367EDE93BB0}"/>
              </a:ext>
            </a:extLst>
          </p:cNvPr>
          <p:cNvSpPr/>
          <p:nvPr/>
        </p:nvSpPr>
        <p:spPr>
          <a:xfrm>
            <a:off x="7819085" y="9604934"/>
            <a:ext cx="19900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Doctors</a:t>
            </a:r>
            <a:endParaRPr lang="en-US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C361DA-8BC6-4CAA-86A9-76CE66A5EF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325" y="5960805"/>
            <a:ext cx="7696200" cy="38051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18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5C7BC2-E3DC-47EF-8337-C4E6AFA1BCB3}"/>
              </a:ext>
            </a:extLst>
          </p:cNvPr>
          <p:cNvGrpSpPr/>
          <p:nvPr/>
        </p:nvGrpSpPr>
        <p:grpSpPr>
          <a:xfrm>
            <a:off x="0" y="-1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0A3E08-22E3-4355-80B8-5666C8E969C9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C93671-A25C-4B75-8B22-FF308B573039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2F17FA95-F669-4890-8304-97BF53CC6089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F419965A-5DD4-411D-B479-70D968765DF4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3104EE39-2227-4B91-A473-F4C94FB1974F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9">
            <a:extLst>
              <a:ext uri="{FF2B5EF4-FFF2-40B4-BE49-F238E27FC236}">
                <a16:creationId xmlns:a16="http://schemas.microsoft.com/office/drawing/2014/main" id="{BEBE7BE5-B64A-444A-BCBA-F970C6A00A4A}"/>
              </a:ext>
            </a:extLst>
          </p:cNvPr>
          <p:cNvSpPr txBox="1"/>
          <p:nvPr/>
        </p:nvSpPr>
        <p:spPr>
          <a:xfrm>
            <a:off x="1088855" y="-181662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Output-</a:t>
            </a:r>
            <a:r>
              <a:rPr lang="en-US" sz="4400" dirty="0" err="1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MedBot</a:t>
            </a:r>
            <a:endParaRPr lang="en-US" sz="4400" dirty="0">
              <a:solidFill>
                <a:srgbClr val="254E9D"/>
              </a:solidFill>
              <a:latin typeface="Antonio Ultra-Bold"/>
              <a:ea typeface="Antonio Ultra-Bold"/>
              <a:cs typeface="Antonio Ultra-Bold"/>
              <a:sym typeface="Antonio Ultra-Bold"/>
            </a:endParaRPr>
          </a:p>
        </p:txBody>
      </p:sp>
      <p:sp>
        <p:nvSpPr>
          <p:cNvPr id="15" name="Freeform 30">
            <a:extLst>
              <a:ext uri="{FF2B5EF4-FFF2-40B4-BE49-F238E27FC236}">
                <a16:creationId xmlns:a16="http://schemas.microsoft.com/office/drawing/2014/main" id="{0190B2A7-D2BC-4F95-A14D-78D96D4565D0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7A165A17-499F-48B5-A5B2-741CD035F925}"/>
              </a:ext>
            </a:extLst>
          </p:cNvPr>
          <p:cNvSpPr/>
          <p:nvPr/>
        </p:nvSpPr>
        <p:spPr>
          <a:xfrm>
            <a:off x="17449801" y="51113"/>
            <a:ext cx="737348" cy="736965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0DAB91-5217-4D96-9A9E-F2A462399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875" y="1485901"/>
            <a:ext cx="17672246" cy="81769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673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92E3D57-BAAA-4F62-9B34-A6547B545CE5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214CA5E-C934-442F-925A-5EA5B3F58EC2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3C0D44E-6E3B-45D8-889A-F080FEE020C8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CAB23DD6-0704-4AC8-B575-70809F7CAFB7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0670AFC-09A0-4EB5-AF61-9A459DCB29AC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C90014BA-4A5E-4F10-B2E0-DBE8DCF8D492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999671E5-85AA-4A37-8E87-4D06E01BA58F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9535F9E-B250-4FB4-9746-A7B01483FB1A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CCB86E2F-CCFE-49C6-90F2-D87C6CB67DEE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9F14643E-3698-4DAC-A16E-2412E8D48125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F0637A0B-3379-46CB-BA9E-2B8C9DF417CA}"/>
              </a:ext>
            </a:extLst>
          </p:cNvPr>
          <p:cNvSpPr txBox="1"/>
          <p:nvPr/>
        </p:nvSpPr>
        <p:spPr>
          <a:xfrm>
            <a:off x="1088855" y="-181662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Source Code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F1ACD6B6-51BC-4EB0-AC70-4661007C6BC1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52CCD21B-E7DF-4DD6-9A54-F1CE5A3DCBE7}"/>
              </a:ext>
            </a:extLst>
          </p:cNvPr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D9629C-CF7B-41FB-9F37-70B10576D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3253" y="2896354"/>
            <a:ext cx="4499670" cy="44996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8575" cap="sq">
            <a:solidFill>
              <a:schemeClr val="accent1">
                <a:lumMod val="75000"/>
              </a:schemeClr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FDB9C5-A5E7-4EBC-ADBF-905CD9B11A03}"/>
              </a:ext>
            </a:extLst>
          </p:cNvPr>
          <p:cNvSpPr txBox="1"/>
          <p:nvPr/>
        </p:nvSpPr>
        <p:spPr>
          <a:xfrm>
            <a:off x="1000703" y="2153463"/>
            <a:ext cx="8839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Turning Complex Medical Information into Straightforward Insights for Enhanced Decision-Making.</a:t>
            </a:r>
          </a:p>
          <a:p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link: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https://github.com/PrathiPriya/Infermedica.git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video link: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https://drive.google.com/file/d/19Vcbaonlbc26P7dHzhifw77npldTG2DJ/view?usp=sharing</a:t>
            </a:r>
            <a:endParaRPr lang="en-US" sz="36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EE658913-B731-4D2A-AED3-CF7D34ECF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483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847AB0F5-CCD0-4D91-8CA2-769670E71FD3}"/>
              </a:ext>
            </a:extLst>
          </p:cNvPr>
          <p:cNvGrpSpPr/>
          <p:nvPr/>
        </p:nvGrpSpPr>
        <p:grpSpPr>
          <a:xfrm rot="-10800000">
            <a:off x="144083" y="282333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93343FA-C7B7-44E1-802F-15D364B8291E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F59238F-176A-4FBA-88BC-0600E78DA058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4DE73008-06CB-433E-BDFC-F9079D6DF6F7}"/>
              </a:ext>
            </a:extLst>
          </p:cNvPr>
          <p:cNvGrpSpPr/>
          <p:nvPr/>
        </p:nvGrpSpPr>
        <p:grpSpPr>
          <a:xfrm>
            <a:off x="12634276" y="873165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EBCDD0D4-0C62-42C7-8F54-DF41BCE7EEDD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CC20B0ED-9C63-43FB-ADE5-54B37EEE7473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A55B18DD-5E24-4E5B-9A43-E1B01A77DB43}"/>
              </a:ext>
            </a:extLst>
          </p:cNvPr>
          <p:cNvGrpSpPr/>
          <p:nvPr/>
        </p:nvGrpSpPr>
        <p:grpSpPr>
          <a:xfrm rot="-5400000">
            <a:off x="8976032" y="619162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006ACFE-29CE-4645-90DB-5F48E15AAD53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251493F5-6767-4489-A2C5-5FB7D5BAC0AE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CD8AFBF5-8123-4EC4-A923-1E2A8DDD1360}"/>
              </a:ext>
            </a:extLst>
          </p:cNvPr>
          <p:cNvSpPr txBox="1"/>
          <p:nvPr/>
        </p:nvSpPr>
        <p:spPr>
          <a:xfrm>
            <a:off x="1709270" y="297788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6AA52FE0-FD2D-42B5-A31B-FA8A66EE3FE3}"/>
              </a:ext>
            </a:extLst>
          </p:cNvPr>
          <p:cNvSpPr txBox="1"/>
          <p:nvPr/>
        </p:nvSpPr>
        <p:spPr>
          <a:xfrm>
            <a:off x="1232938" y="-158802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Antonio Ultra-Bold" panose="020B0604020202020204" charset="0"/>
              </a:rPr>
              <a:t>Estimation of development, Roadmap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Antonio Ultra-Bold" panose="020B0604020202020204" charset="0"/>
              <a:ea typeface="Antonio Ultra-Bold"/>
              <a:cs typeface="Antonio Ultra-Bold"/>
              <a:sym typeface="Antonio Ultra-Bold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F9992FE8-D4EB-4635-B91A-126E46C51AD2}"/>
              </a:ext>
            </a:extLst>
          </p:cNvPr>
          <p:cNvSpPr/>
          <p:nvPr/>
        </p:nvSpPr>
        <p:spPr>
          <a:xfrm>
            <a:off x="244935" y="53170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9C6EE48C-68B8-4705-B447-F1E335223F33}"/>
              </a:ext>
            </a:extLst>
          </p:cNvPr>
          <p:cNvSpPr/>
          <p:nvPr/>
        </p:nvSpPr>
        <p:spPr>
          <a:xfrm>
            <a:off x="16945445" y="41218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9B89E3-B07B-4D57-8D7F-16CD94D2B4B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778" r="16349"/>
          <a:stretch/>
        </p:blipFill>
        <p:spPr>
          <a:xfrm>
            <a:off x="1686967" y="1230339"/>
            <a:ext cx="15157626" cy="879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3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D08A0CE-6944-4B56-972A-2B5023267710}"/>
              </a:ext>
            </a:extLst>
          </p:cNvPr>
          <p:cNvSpPr txBox="1"/>
          <p:nvPr/>
        </p:nvSpPr>
        <p:spPr>
          <a:xfrm>
            <a:off x="0" y="-144662"/>
            <a:ext cx="18288000" cy="980755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342FB6D-34D4-4627-B7FC-1C26D0D47E6D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192BF97-DCEE-4D89-9B3B-A2973FD064F1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6038999-F187-4355-96E9-DA3425457024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2D17EB01-FE15-432B-B0AE-E3D74C096D71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B7C6BB7-775D-40F4-A956-50105A6070E9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E5CFC948-5450-47F3-BA36-A57CEB499238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39B94A11-18B8-49AA-9E82-345FE9B1DB15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1AC22EFA-8A2C-4A22-91B9-3D2426776B8F}"/>
              </a:ext>
            </a:extLst>
          </p:cNvPr>
          <p:cNvSpPr txBox="1"/>
          <p:nvPr/>
        </p:nvSpPr>
        <p:spPr>
          <a:xfrm>
            <a:off x="1088855" y="-277081"/>
            <a:ext cx="15157626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Mentor Connect details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3BA92777-C176-4A69-8903-D6EB7C938299}"/>
              </a:ext>
            </a:extLst>
          </p:cNvPr>
          <p:cNvSpPr/>
          <p:nvPr/>
        </p:nvSpPr>
        <p:spPr>
          <a:xfrm>
            <a:off x="100852" y="50884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9DCD2962-5736-4D20-902A-D451763F8A2A}"/>
              </a:ext>
            </a:extLst>
          </p:cNvPr>
          <p:cNvSpPr/>
          <p:nvPr/>
        </p:nvSpPr>
        <p:spPr>
          <a:xfrm>
            <a:off x="17128776" y="38100"/>
            <a:ext cx="1090542" cy="1008765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7708E055-3366-4187-82D7-6A211CA95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738841"/>
              </p:ext>
            </p:extLst>
          </p:nvPr>
        </p:nvGraphicFramePr>
        <p:xfrm>
          <a:off x="975303" y="1369583"/>
          <a:ext cx="16504673" cy="842211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41789">
                  <a:extLst>
                    <a:ext uri="{9D8B030D-6E8A-4147-A177-3AD203B41FA5}">
                      <a16:colId xmlns:a16="http://schemas.microsoft.com/office/drawing/2014/main" val="2777617380"/>
                    </a:ext>
                  </a:extLst>
                </a:gridCol>
                <a:gridCol w="1277585">
                  <a:extLst>
                    <a:ext uri="{9D8B030D-6E8A-4147-A177-3AD203B41FA5}">
                      <a16:colId xmlns:a16="http://schemas.microsoft.com/office/drawing/2014/main" val="3812768025"/>
                    </a:ext>
                  </a:extLst>
                </a:gridCol>
                <a:gridCol w="4597160">
                  <a:extLst>
                    <a:ext uri="{9D8B030D-6E8A-4147-A177-3AD203B41FA5}">
                      <a16:colId xmlns:a16="http://schemas.microsoft.com/office/drawing/2014/main" val="1700138768"/>
                    </a:ext>
                  </a:extLst>
                </a:gridCol>
                <a:gridCol w="5220503">
                  <a:extLst>
                    <a:ext uri="{9D8B030D-6E8A-4147-A177-3AD203B41FA5}">
                      <a16:colId xmlns:a16="http://schemas.microsoft.com/office/drawing/2014/main" val="2664822475"/>
                    </a:ext>
                  </a:extLst>
                </a:gridCol>
                <a:gridCol w="3567636">
                  <a:extLst>
                    <a:ext uri="{9D8B030D-6E8A-4147-A177-3AD203B41FA5}">
                      <a16:colId xmlns:a16="http://schemas.microsoft.com/office/drawing/2014/main" val="3085029833"/>
                    </a:ext>
                  </a:extLst>
                </a:gridCol>
              </a:tblGrid>
              <a:tr h="9483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ndalus" panose="02020603050405020304" pitchFamily="18" charset="-78"/>
                          <a:cs typeface="Andalus" panose="02020603050405020304" pitchFamily="18" charset="-78"/>
                        </a:rPr>
                        <a:t>Date of connect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ndalus" panose="02020603050405020304" pitchFamily="18" charset="-78"/>
                          <a:cs typeface="Andalus" panose="02020603050405020304" pitchFamily="18" charset="-78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ndalus" panose="02020603050405020304" pitchFamily="18" charset="-78"/>
                          <a:cs typeface="Andalus" panose="02020603050405020304" pitchFamily="18" charset="-78"/>
                        </a:rPr>
                        <a:t>Agenda of the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ndalus" panose="02020603050405020304" pitchFamily="18" charset="-78"/>
                          <a:cs typeface="Andalus" panose="02020603050405020304" pitchFamily="18" charset="-78"/>
                        </a:rPr>
                        <a:t>Suggestions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ndalus" panose="02020603050405020304" pitchFamily="18" charset="-78"/>
                          <a:cs typeface="Andalus" panose="02020603050405020304" pitchFamily="18" charset="-78"/>
                        </a:rPr>
                        <a:t>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036510"/>
                  </a:ext>
                </a:extLst>
              </a:tr>
              <a:tr h="82594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17-07-2024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 understanding and Literature survey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research on papers related to each part of the use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46588"/>
                  </a:ext>
                </a:extLst>
              </a:tr>
              <a:tr h="82594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23-07-2024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Dataset, Model confirmation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Matrices for the models and the count of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026376"/>
                  </a:ext>
                </a:extLst>
              </a:tr>
              <a:tr h="11930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25-07-2024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Review and Project Idea 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 of real-time data, User interface ideas, and explanation for the choice of custom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Cognizant mentors and 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590199"/>
                  </a:ext>
                </a:extLst>
              </a:tr>
              <a:tr h="80812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30-07-2024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and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and evaluation of the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56546"/>
                  </a:ext>
                </a:extLst>
              </a:tr>
              <a:tr h="11930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01-08-2024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Progress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 enhancement, usage of various functions such as aggregates for the BART and fallback mechanism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Cognizant mentors and 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467347"/>
                  </a:ext>
                </a:extLst>
              </a:tr>
              <a:tr h="82594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05-08-2024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Enhancement in Fine-tuning of the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 retrieval options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690064"/>
                  </a:ext>
                </a:extLst>
              </a:tr>
              <a:tr h="8448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08-08-2024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Demo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and authentication, conversational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Medbot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Cognizant mentors and 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345825"/>
                  </a:ext>
                </a:extLst>
              </a:tr>
              <a:tr h="95696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13-08-2024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Project Presentation and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GTTS, Hosting of the project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Cognizant mentors and internal mentors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892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20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398505"/>
            <a:ext cx="1929791" cy="1888495"/>
            <a:chOff x="0" y="0"/>
            <a:chExt cx="508258" cy="4973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258" cy="497381"/>
            </a:xfrm>
            <a:custGeom>
              <a:avLst/>
              <a:gdLst/>
              <a:ahLst/>
              <a:cxnLst/>
              <a:rect l="l" t="t" r="r" b="b"/>
              <a:pathLst>
                <a:path w="508258" h="497381">
                  <a:moveTo>
                    <a:pt x="0" y="0"/>
                  </a:moveTo>
                  <a:lnTo>
                    <a:pt x="508258" y="0"/>
                  </a:lnTo>
                  <a:lnTo>
                    <a:pt x="508258" y="497381"/>
                  </a:lnTo>
                  <a:lnTo>
                    <a:pt x="0" y="497381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8258" cy="53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29791" y="7371644"/>
            <a:ext cx="869386" cy="1026861"/>
            <a:chOff x="0" y="0"/>
            <a:chExt cx="228974" cy="270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8974" cy="270449"/>
            </a:xfrm>
            <a:custGeom>
              <a:avLst/>
              <a:gdLst/>
              <a:ahLst/>
              <a:cxnLst/>
              <a:rect l="l" t="t" r="r" b="b"/>
              <a:pathLst>
                <a:path w="228974" h="270449">
                  <a:moveTo>
                    <a:pt x="0" y="0"/>
                  </a:moveTo>
                  <a:lnTo>
                    <a:pt x="228974" y="0"/>
                  </a:lnTo>
                  <a:lnTo>
                    <a:pt x="228974" y="270449"/>
                  </a:lnTo>
                  <a:lnTo>
                    <a:pt x="0" y="270449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8974" cy="308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6358209" y="0"/>
            <a:ext cx="1929791" cy="1888495"/>
            <a:chOff x="0" y="0"/>
            <a:chExt cx="508258" cy="4973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258" cy="497381"/>
            </a:xfrm>
            <a:custGeom>
              <a:avLst/>
              <a:gdLst/>
              <a:ahLst/>
              <a:cxnLst/>
              <a:rect l="l" t="t" r="r" b="b"/>
              <a:pathLst>
                <a:path w="508258" h="497381">
                  <a:moveTo>
                    <a:pt x="0" y="0"/>
                  </a:moveTo>
                  <a:lnTo>
                    <a:pt x="508258" y="0"/>
                  </a:lnTo>
                  <a:lnTo>
                    <a:pt x="508258" y="497381"/>
                  </a:lnTo>
                  <a:lnTo>
                    <a:pt x="0" y="497381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8258" cy="53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5488823" y="1888495"/>
            <a:ext cx="869386" cy="1026861"/>
            <a:chOff x="0" y="0"/>
            <a:chExt cx="228974" cy="2704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8974" cy="270449"/>
            </a:xfrm>
            <a:custGeom>
              <a:avLst/>
              <a:gdLst/>
              <a:ahLst/>
              <a:cxnLst/>
              <a:rect l="l" t="t" r="r" b="b"/>
              <a:pathLst>
                <a:path w="228974" h="270449">
                  <a:moveTo>
                    <a:pt x="0" y="0"/>
                  </a:moveTo>
                  <a:lnTo>
                    <a:pt x="228974" y="0"/>
                  </a:lnTo>
                  <a:lnTo>
                    <a:pt x="228974" y="270449"/>
                  </a:lnTo>
                  <a:lnTo>
                    <a:pt x="0" y="270449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8974" cy="308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29791" y="9600614"/>
            <a:ext cx="16358209" cy="686386"/>
            <a:chOff x="0" y="0"/>
            <a:chExt cx="4308335" cy="1807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8335" cy="180777"/>
            </a:xfrm>
            <a:custGeom>
              <a:avLst/>
              <a:gdLst/>
              <a:ahLst/>
              <a:cxnLst/>
              <a:rect l="l" t="t" r="r" b="b"/>
              <a:pathLst>
                <a:path w="4308335" h="180777">
                  <a:moveTo>
                    <a:pt x="0" y="0"/>
                  </a:moveTo>
                  <a:lnTo>
                    <a:pt x="4308335" y="0"/>
                  </a:lnTo>
                  <a:lnTo>
                    <a:pt x="4308335" y="180777"/>
                  </a:lnTo>
                  <a:lnTo>
                    <a:pt x="0" y="18077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308335" cy="218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59432" y="9600614"/>
            <a:ext cx="9718600" cy="686386"/>
            <a:chOff x="0" y="0"/>
            <a:chExt cx="2559631" cy="1807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59631" cy="180777"/>
            </a:xfrm>
            <a:custGeom>
              <a:avLst/>
              <a:gdLst/>
              <a:ahLst/>
              <a:cxnLst/>
              <a:rect l="l" t="t" r="r" b="b"/>
              <a:pathLst>
                <a:path w="2559631" h="180777">
                  <a:moveTo>
                    <a:pt x="0" y="0"/>
                  </a:moveTo>
                  <a:lnTo>
                    <a:pt x="2559631" y="0"/>
                  </a:lnTo>
                  <a:lnTo>
                    <a:pt x="2559631" y="180777"/>
                  </a:lnTo>
                  <a:lnTo>
                    <a:pt x="0" y="18077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559631" cy="218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75232" y="3068849"/>
            <a:ext cx="1253359" cy="1226537"/>
            <a:chOff x="0" y="0"/>
            <a:chExt cx="508258" cy="4973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8258" cy="497381"/>
            </a:xfrm>
            <a:custGeom>
              <a:avLst/>
              <a:gdLst/>
              <a:ahLst/>
              <a:cxnLst/>
              <a:rect l="l" t="t" r="r" b="b"/>
              <a:pathLst>
                <a:path w="508258" h="497381">
                  <a:moveTo>
                    <a:pt x="0" y="0"/>
                  </a:moveTo>
                  <a:lnTo>
                    <a:pt x="508258" y="0"/>
                  </a:lnTo>
                  <a:lnTo>
                    <a:pt x="508258" y="497381"/>
                  </a:lnTo>
                  <a:lnTo>
                    <a:pt x="0" y="497381"/>
                  </a:lnTo>
                  <a:close/>
                </a:path>
              </a:pathLst>
            </a:custGeom>
            <a:solidFill>
              <a:srgbClr val="FCFDFD">
                <a:alpha val="13725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508258" cy="53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8591" y="2401925"/>
            <a:ext cx="564648" cy="666924"/>
            <a:chOff x="0" y="0"/>
            <a:chExt cx="228974" cy="2704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8974" cy="270449"/>
            </a:xfrm>
            <a:custGeom>
              <a:avLst/>
              <a:gdLst/>
              <a:ahLst/>
              <a:cxnLst/>
              <a:rect l="l" t="t" r="r" b="b"/>
              <a:pathLst>
                <a:path w="228974" h="270449">
                  <a:moveTo>
                    <a:pt x="0" y="0"/>
                  </a:moveTo>
                  <a:lnTo>
                    <a:pt x="228974" y="0"/>
                  </a:lnTo>
                  <a:lnTo>
                    <a:pt x="228974" y="270449"/>
                  </a:lnTo>
                  <a:lnTo>
                    <a:pt x="0" y="270449"/>
                  </a:lnTo>
                  <a:close/>
                </a:path>
              </a:pathLst>
            </a:custGeom>
            <a:solidFill>
              <a:srgbClr val="FCFDFD">
                <a:alpha val="13725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28974" cy="308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13259409" y="5991613"/>
            <a:ext cx="1253359" cy="1226537"/>
            <a:chOff x="0" y="0"/>
            <a:chExt cx="508258" cy="49738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258" cy="497381"/>
            </a:xfrm>
            <a:custGeom>
              <a:avLst/>
              <a:gdLst/>
              <a:ahLst/>
              <a:cxnLst/>
              <a:rect l="l" t="t" r="r" b="b"/>
              <a:pathLst>
                <a:path w="508258" h="497381">
                  <a:moveTo>
                    <a:pt x="0" y="0"/>
                  </a:moveTo>
                  <a:lnTo>
                    <a:pt x="508258" y="0"/>
                  </a:lnTo>
                  <a:lnTo>
                    <a:pt x="508258" y="497381"/>
                  </a:lnTo>
                  <a:lnTo>
                    <a:pt x="0" y="497381"/>
                  </a:lnTo>
                  <a:close/>
                </a:path>
              </a:pathLst>
            </a:custGeom>
            <a:solidFill>
              <a:srgbClr val="FCFDFD">
                <a:alpha val="13725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08258" cy="53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-10800000">
            <a:off x="12694761" y="7218151"/>
            <a:ext cx="564648" cy="666924"/>
            <a:chOff x="0" y="0"/>
            <a:chExt cx="228974" cy="27044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8974" cy="270449"/>
            </a:xfrm>
            <a:custGeom>
              <a:avLst/>
              <a:gdLst/>
              <a:ahLst/>
              <a:cxnLst/>
              <a:rect l="l" t="t" r="r" b="b"/>
              <a:pathLst>
                <a:path w="228974" h="270449">
                  <a:moveTo>
                    <a:pt x="0" y="0"/>
                  </a:moveTo>
                  <a:lnTo>
                    <a:pt x="228974" y="0"/>
                  </a:lnTo>
                  <a:lnTo>
                    <a:pt x="228974" y="270449"/>
                  </a:lnTo>
                  <a:lnTo>
                    <a:pt x="0" y="270449"/>
                  </a:lnTo>
                  <a:close/>
                </a:path>
              </a:pathLst>
            </a:custGeom>
            <a:solidFill>
              <a:srgbClr val="FCFDFD">
                <a:alpha val="13725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28974" cy="308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9A652C22-CB4E-4A87-A2BF-51F43B93A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215565"/>
              </p:ext>
            </p:extLst>
          </p:nvPr>
        </p:nvGraphicFramePr>
        <p:xfrm>
          <a:off x="0" y="21594"/>
          <a:ext cx="18288000" cy="10265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450800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2239113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0643134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87193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3424356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22575931"/>
                    </a:ext>
                  </a:extLst>
                </a:gridCol>
              </a:tblGrid>
              <a:tr h="2053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21937"/>
                  </a:ext>
                </a:extLst>
              </a:tr>
              <a:tr h="20530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741906"/>
                  </a:ext>
                </a:extLst>
              </a:tr>
              <a:tr h="20530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020005"/>
                  </a:ext>
                </a:extLst>
              </a:tr>
              <a:tr h="20530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849979"/>
                  </a:ext>
                </a:extLst>
              </a:tr>
              <a:tr h="205308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07568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9333F797-A082-4037-A499-83A6B2E98EF5}"/>
              </a:ext>
            </a:extLst>
          </p:cNvPr>
          <p:cNvSpPr/>
          <p:nvPr/>
        </p:nvSpPr>
        <p:spPr>
          <a:xfrm>
            <a:off x="7265922" y="4681835"/>
            <a:ext cx="3756157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</a:t>
            </a:r>
          </a:p>
          <a:p>
            <a:pPr algn="ctr"/>
            <a:r>
              <a:rPr lang="en-US" sz="8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YOU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E07A268-2257-460D-B409-5567550E6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358050"/>
              </p:ext>
            </p:extLst>
          </p:nvPr>
        </p:nvGraphicFramePr>
        <p:xfrm>
          <a:off x="0" y="0"/>
          <a:ext cx="18288000" cy="1028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657913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9067242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175230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32975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091680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58618096"/>
                    </a:ext>
                  </a:extLst>
                </a:gridCol>
              </a:tblGrid>
              <a:tr h="20574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854208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392910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165898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912128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11457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B082A19-B082-47F5-AF24-6396D00BD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91" y="0"/>
            <a:ext cx="18301291" cy="10287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D831D8-2DAF-4424-A2F4-8D64A440913D}"/>
              </a:ext>
            </a:extLst>
          </p:cNvPr>
          <p:cNvSpPr txBox="1"/>
          <p:nvPr/>
        </p:nvSpPr>
        <p:spPr>
          <a:xfrm>
            <a:off x="1600200" y="683517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br>
              <a:rPr 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95972677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4C6FED-F400-4F37-8D73-5DD70BC61128}"/>
              </a:ext>
            </a:extLst>
          </p:cNvPr>
          <p:cNvGrpSpPr/>
          <p:nvPr/>
        </p:nvGrpSpPr>
        <p:grpSpPr>
          <a:xfrm>
            <a:off x="0" y="-15240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8F05C8E-0DA7-420E-A24A-DFB827BE2A73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440AA8-6C84-4C11-BC56-241CC80B797F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8EED4AA-BF8E-4B62-9FBB-7FCAF81D520A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6539370-1928-4237-8B6C-960A597239F5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4A6F6B7-A08E-4253-B4BA-64F7655F4872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52C3030F-EC42-4E1B-A291-65AC8CAE493A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55C1972-2606-48E6-B7F2-DE3C83F5CC4C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FD154768-2337-4190-B012-D08E63927E1F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2DBDE31E-13A9-47DC-8A23-6D3298F2DCA2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C0438D3-A314-40A9-8900-F215E35C9F5C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E58D3D2A-E2F5-468A-933D-F501673B8731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423CD48B-DADA-4184-8DC6-778361F1ACAC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EF2E5574-5445-4D13-8C1C-3776AE8EB9FB}"/>
              </a:ext>
            </a:extLst>
          </p:cNvPr>
          <p:cNvSpPr txBox="1"/>
          <p:nvPr/>
        </p:nvSpPr>
        <p:spPr>
          <a:xfrm>
            <a:off x="1180373" y="-276228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2EAE36A0-6522-4546-8C7D-E9ACA3321550}"/>
              </a:ext>
            </a:extLst>
          </p:cNvPr>
          <p:cNvSpPr/>
          <p:nvPr/>
        </p:nvSpPr>
        <p:spPr>
          <a:xfrm>
            <a:off x="201703" y="406160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462C2355-8BA5-4FAF-B732-7CF9916C5F00}"/>
              </a:ext>
            </a:extLst>
          </p:cNvPr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602C1C-FF6D-4289-8348-B826A1D097ED}"/>
              </a:ext>
            </a:extLst>
          </p:cNvPr>
          <p:cNvSpPr txBox="1"/>
          <p:nvPr/>
        </p:nvSpPr>
        <p:spPr>
          <a:xfrm>
            <a:off x="938960" y="1688138"/>
            <a:ext cx="15808413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 1: Efficiency of JSON for Data Retrieval in Big Data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(2017- Research Gate )</a:t>
            </a:r>
          </a:p>
          <a:p>
            <a:pPr algn="l" rtl="0" fontAlgn="base"/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 and Algorithms Used: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Execution and Parsing Algorithms: Implements and compares algorithms for executing queries and parsing data in JSON formats.​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T-Test Analysis: Conducts T-test analysis to compare the means of elapsed time for query execution using JSON.​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 is found to be efficient in terms of storage. This is attributed to JSON's lightweight structure and faster parsing capabilities.​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Limitation: Evaluated up to 50,000 records, which may not represent larger big data scenarios.​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Use Case: Focuses on publication data, limiting generalizability to other data types.​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Performance Metrics: Excludes important metrics like memory usage and network overhead.​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02947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108A772-9C5A-40C1-B9C0-5B1B743FD3F5}"/>
              </a:ext>
            </a:extLst>
          </p:cNvPr>
          <p:cNvGrpSpPr/>
          <p:nvPr/>
        </p:nvGrpSpPr>
        <p:grpSpPr>
          <a:xfrm>
            <a:off x="0" y="-15240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D901D4-EC77-4C1F-8698-CB3DCED7E066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706274-68C5-40E6-9957-3AF378E88BDC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4869504-D32B-4E9A-B508-55EA7A205DF5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C5ED243-900A-44A9-8CE0-99808FD3B38C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F411C93-47F5-4DFE-9E90-5BF04F6EC7C3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AB4AB460-5F8F-408E-ABE9-7468274CCD6B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DB35EA9-7C9C-4794-A56C-B04B0E4C7B20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3653145B-DEBE-40FD-BADD-4D868265654D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B5EC2A01-9348-4EB1-88C6-F8CFCF59A648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BF88B2C7-E995-4F48-B6E9-CE8DE775B155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05666054-767D-4E2B-BC76-F39311ED3403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0151B78A-4366-4D33-822C-5069F2308C8E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2CBBFBBC-4C72-4F12-9606-3ACDFA80CCC2}"/>
              </a:ext>
            </a:extLst>
          </p:cNvPr>
          <p:cNvSpPr txBox="1"/>
          <p:nvPr/>
        </p:nvSpPr>
        <p:spPr>
          <a:xfrm>
            <a:off x="1200249" y="-406248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A759D922-AEB4-4BF2-8520-4A7A1BAAF885}"/>
              </a:ext>
            </a:extLst>
          </p:cNvPr>
          <p:cNvSpPr/>
          <p:nvPr/>
        </p:nvSpPr>
        <p:spPr>
          <a:xfrm>
            <a:off x="180527" y="306423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BCB141CB-7CA9-4526-AE0C-64F366B6CF17}"/>
              </a:ext>
            </a:extLst>
          </p:cNvPr>
          <p:cNvSpPr/>
          <p:nvPr/>
        </p:nvSpPr>
        <p:spPr>
          <a:xfrm>
            <a:off x="16209825" y="426561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AD5595-AA5C-4D26-8EE4-8E20322E1BEC}"/>
              </a:ext>
            </a:extLst>
          </p:cNvPr>
          <p:cNvSpPr txBox="1"/>
          <p:nvPr/>
        </p:nvSpPr>
        <p:spPr>
          <a:xfrm>
            <a:off x="720380" y="1326716"/>
            <a:ext cx="17005829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2: Information Retrieval System for Searching JSON Files with Vector Space Model Method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 (2019-IEEE)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Methodologies/Algorithms used: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describes a methodology for processing 140 scientific journals by converting PDFs to JSON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PDFBox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reading JSON files with Google GSON, tokenizing, filtering non-essential words, and stemming using ECS Stemming.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Indexed data is weighted using TF-IDF. The Information Retrieval System uses the Vector Space Model (VSM), applying TF-IDF and cosine similarity to rank documents by relevance, ensuring efficient information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TF-IDF and cosine similarity for accurate document-query matching.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success rate in converting PDFs to JSON, The indexing process stores 987 unique terms and can perform searches within 180-200 milliseconds.</a:t>
            </a:r>
          </a:p>
          <a:p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Stemming Issues: The process sometimes produces incomprehensible results for English words and has language limitations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Dependence: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lows down as the number of indexed documents increases.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7612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5240"/>
            <a:ext cx="18288000" cy="9662898"/>
            <a:chOff x="0" y="0"/>
            <a:chExt cx="4816593" cy="25449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30" name="Freeform 30"/>
          <p:cNvSpPr/>
          <p:nvPr/>
        </p:nvSpPr>
        <p:spPr>
          <a:xfrm>
            <a:off x="186463" y="344670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7BE54-D6D5-4CCB-887F-1A5956513645}"/>
              </a:ext>
            </a:extLst>
          </p:cNvPr>
          <p:cNvSpPr txBox="1"/>
          <p:nvPr/>
        </p:nvSpPr>
        <p:spPr>
          <a:xfrm>
            <a:off x="720378" y="1714500"/>
            <a:ext cx="1684724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3: </a:t>
            </a:r>
            <a:r>
              <a:rPr lang="en-US" sz="2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re-trained Biomedical Language Representation Model for Biomedical 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mining (2019-Oxford)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Methodologies/Algorithms used: 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LSTM and CRF have improved tasks like Biomedical Relation Extraction (RE) and Named Entity Recognition (NER)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Biomedical Relation Extractions are improved using deep learning models like BERT.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pre-trained on large biomedical corpora (like PubMed), outperforms general models by a notable margin and uses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WordPiece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Tokenization.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0.62% improvement in F1 score compared to previous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2.80% improvement in F1 score over state-of-the-art models.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improvements such as a 12.24% MRR improvement over previous models.</a:t>
            </a:r>
          </a:p>
          <a:p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significant computational resources for training and fine-tuning, limiting its accessibility to smaller research groups.</a:t>
            </a:r>
          </a:p>
          <a:p>
            <a:pPr algn="l" rtl="0" fontAlgn="base"/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9834E09C-B2D1-4098-B695-E83D22C22993}"/>
              </a:ext>
            </a:extLst>
          </p:cNvPr>
          <p:cNvSpPr txBox="1"/>
          <p:nvPr/>
        </p:nvSpPr>
        <p:spPr>
          <a:xfrm>
            <a:off x="1128262" y="-337718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21F2A7-8533-48F8-A19A-8D191D819BEE}"/>
              </a:ext>
            </a:extLst>
          </p:cNvPr>
          <p:cNvGrpSpPr/>
          <p:nvPr/>
        </p:nvGrpSpPr>
        <p:grpSpPr>
          <a:xfrm>
            <a:off x="0" y="-15240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C1F63EA-C162-45A6-A865-26D477F9E0FC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C18EF1-813A-439D-8A86-76702B8D147E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0354A27-3385-40ED-85FF-A7596170D0ED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2248C0-C6F4-48F7-ADF3-69FE0A505029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7CB13A4-B61A-4AA2-ABBF-88A0C6BEAB70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94E26B92-6AA4-4147-A8D1-596220354393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EC6D5A8B-6DF9-4E9B-B4FA-7A6C383209F9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D395BEA2-46C5-4EAB-8A89-C5C33CE384E1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C4365012-8C30-492D-A805-A3A9BFE6FC87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03ED4F20-FE35-462C-BCFD-7F04AA136E96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7755B8ED-BDD5-47A3-91CC-E17BEA3580B5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F52E39B5-0269-41D7-8797-C8AEEAD00A2F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1D5E4866-E638-4FB5-A931-368E389A04B7}"/>
              </a:ext>
            </a:extLst>
          </p:cNvPr>
          <p:cNvSpPr/>
          <p:nvPr/>
        </p:nvSpPr>
        <p:spPr>
          <a:xfrm>
            <a:off x="155983" y="290026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B090AE1C-B062-4C9D-95E1-C2DBB5A63DAB}"/>
              </a:ext>
            </a:extLst>
          </p:cNvPr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8C2BE-B2AE-46AF-8F88-FC9B25BE6294}"/>
              </a:ext>
            </a:extLst>
          </p:cNvPr>
          <p:cNvSpPr txBox="1"/>
          <p:nvPr/>
        </p:nvSpPr>
        <p:spPr>
          <a:xfrm>
            <a:off x="1167463" y="2313349"/>
            <a:ext cx="15808413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 4: </a:t>
            </a:r>
            <a:r>
              <a:rPr lang="en-US" sz="2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IntelliDoctor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AI-based Medical Assistant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(2019-IEEE)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 /Algorithms Used: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had been trained using real-world cases with several thousands of clinical records, through information extraction using Natural Language Processing.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powered by a sophisticated artificial intelligence engine based on the Naïve Bayes classifier.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takes the symptoms from users and understands it into a medical condition. It then generates a set of questionnaires and asks the user through interaction and this predicts the closest medical condition.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sensitive health data always raises privacy and security issues.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effectiveness of the app relies heavily on user engagement and compliance</a:t>
            </a: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b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5DB52B38-999A-4086-AEDD-E1B175DFA921}"/>
              </a:ext>
            </a:extLst>
          </p:cNvPr>
          <p:cNvSpPr txBox="1"/>
          <p:nvPr/>
        </p:nvSpPr>
        <p:spPr>
          <a:xfrm>
            <a:off x="1073614" y="-398605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277148290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055EB8-19EE-41E5-8960-0921D4F4FADD}"/>
              </a:ext>
            </a:extLst>
          </p:cNvPr>
          <p:cNvGrpSpPr/>
          <p:nvPr/>
        </p:nvGrpSpPr>
        <p:grpSpPr>
          <a:xfrm>
            <a:off x="0" y="-15240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D47A48A-2545-4CCD-976C-9F6CDACB4F4F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2DF70E5-78D2-4DE8-9BA6-F0B1E5ECF65E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24A0FE4-E038-4B0E-94CB-B35AABBB0B1F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A1AF7-2B8D-4AF7-99D1-FD2C75A151F5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BB7B6B2-D70C-4CBE-A92B-11C841458E26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EA9922ED-266F-444C-90D2-F1B547A506A3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C0F4097-BB06-4159-BC10-086A299ED03C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8ABB09F2-EB3E-4563-B2F3-A9CF4F9D8AE3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E303ED19-B472-4272-9EE1-53F08FD2D3E0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9A5AF253-3EB8-46A9-BFE5-B068229351B7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F45B894C-18C5-4536-88E5-AC6939B2085A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83E802BD-EE3A-4F15-B7BA-DCF6AA3DCF23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E44F58B6-B2B2-44F6-94FC-5CE8BDED026E}"/>
              </a:ext>
            </a:extLst>
          </p:cNvPr>
          <p:cNvSpPr/>
          <p:nvPr/>
        </p:nvSpPr>
        <p:spPr>
          <a:xfrm>
            <a:off x="180527" y="343761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D3297CAF-FC38-4C99-A80D-A45BA15AC579}"/>
              </a:ext>
            </a:extLst>
          </p:cNvPr>
          <p:cNvSpPr/>
          <p:nvPr/>
        </p:nvSpPr>
        <p:spPr>
          <a:xfrm>
            <a:off x="16441233" y="7293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46B418-983E-41D5-B5EC-F76FB4C7AABD}"/>
              </a:ext>
            </a:extLst>
          </p:cNvPr>
          <p:cNvSpPr txBox="1"/>
          <p:nvPr/>
        </p:nvSpPr>
        <p:spPr>
          <a:xfrm>
            <a:off x="749935" y="1388639"/>
            <a:ext cx="15808413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5: 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Med-BERT Pre-trained contextualized embeddings on large-scale structured electronic health </a:t>
            </a:r>
          </a:p>
          <a:p>
            <a:pPr algn="l" rtl="0" fontAlgn="base"/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for disease prediction​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 /Algorithms Used: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Masked LM​: This task involves predicting a masked code using sequential information from both forward and backward directions.​    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Prolonged LOS: Prolonged Length of Stay refers to the extended duration that a patient remains in a healthcare facility, such as a hospital, beyond the typical or expected time for their particular condition or treatment.​    ​    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Deep Learning Models (RETAIN, GRU, and Bi-GRU) and Code Embeddings (BEHRT and G-BERT)​.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Med-BERT significantly improves prediction accuracy in EHR tasks, enhancing AUC values of models by up to 7% and demonstrating effective transfer learning across datasets.​​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Med-BERT shows less improvement on complex models like RETAIN, and smaller training sizes result in less stable outcomes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BD785B3C-1766-4AC5-A28C-7A97B0D5E5A1}"/>
              </a:ext>
            </a:extLst>
          </p:cNvPr>
          <p:cNvSpPr txBox="1"/>
          <p:nvPr/>
        </p:nvSpPr>
        <p:spPr>
          <a:xfrm>
            <a:off x="1163091" y="-338627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301613833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46374D7-3285-4A58-9B75-36DB2F173265}"/>
              </a:ext>
            </a:extLst>
          </p:cNvPr>
          <p:cNvGrpSpPr/>
          <p:nvPr/>
        </p:nvGrpSpPr>
        <p:grpSpPr>
          <a:xfrm>
            <a:off x="0" y="-15240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EC0213-E9E1-4E8E-96B0-B3F9EC2B1B67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D923735-F764-4651-8EB6-F9469CE6FDC9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BE52EDC-CC87-4C79-8082-65E02E119520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88FECDE-D6AD-4430-9572-B5F039EF6B60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93FD1C5-06AC-4A24-8708-04B4A1327F11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26C30189-2FE0-464E-9726-54D2A1A33136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0CA3B3EE-4EDF-4565-8B90-DF56388FC1FD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91F32E83-E2ED-4BCF-BCD4-399F74867FF4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EB88B50F-FD61-480D-93A9-81D11E20D1B3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6D67A090-7B4C-4FFE-8D60-098E12C850C0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E2CC962A-D1E5-4641-B14F-FE52F255E928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38992546-8BE3-4423-9B73-CB07550E8D0C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E136A623-372E-4A1E-B39F-EC4824F19E20}"/>
              </a:ext>
            </a:extLst>
          </p:cNvPr>
          <p:cNvSpPr/>
          <p:nvPr/>
        </p:nvSpPr>
        <p:spPr>
          <a:xfrm>
            <a:off x="196403" y="364898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BA619BFC-A092-419B-8480-D36A6F3655F3}"/>
              </a:ext>
            </a:extLst>
          </p:cNvPr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2D6668-DE4A-4C40-BEE0-32C7F9B2CBA6}"/>
              </a:ext>
            </a:extLst>
          </p:cNvPr>
          <p:cNvSpPr txBox="1"/>
          <p:nvPr/>
        </p:nvSpPr>
        <p:spPr>
          <a:xfrm>
            <a:off x="887152" y="2075603"/>
            <a:ext cx="1679340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6: 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valuation of NoSQL database with respect to JSON format (2022)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Methodologies/Algorithms used: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Document-oriented approach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MongoDB stores data in documents that are similar to JSON format. This approach is beneficial for handling unstructured data and offers flexibility in data modeling.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involves the evaluation of MongoDB's indexing and replication mechanisms to enhance query performance and ensure high availability and disaster recovery.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supports real-time analytics and flexible schema, making it ideal for enterprise applications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Needs careful planning to increase efficiency. ​    </a:t>
            </a: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can be hard to use for applications that need strict data consistency and integrity.</a:t>
            </a:r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2492C654-AE68-4831-B975-CBFC4666A816}"/>
              </a:ext>
            </a:extLst>
          </p:cNvPr>
          <p:cNvSpPr txBox="1"/>
          <p:nvPr/>
        </p:nvSpPr>
        <p:spPr>
          <a:xfrm>
            <a:off x="1149893" y="-325612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46823049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D8A57EE-37A4-4301-B8FF-81F054B176A6}"/>
              </a:ext>
            </a:extLst>
          </p:cNvPr>
          <p:cNvGrpSpPr/>
          <p:nvPr/>
        </p:nvGrpSpPr>
        <p:grpSpPr>
          <a:xfrm>
            <a:off x="0" y="8037"/>
            <a:ext cx="18288000" cy="9662898"/>
            <a:chOff x="0" y="0"/>
            <a:chExt cx="4816593" cy="25449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5E66DA-AC83-483D-B952-EAFD6602A515}"/>
                </a:ext>
              </a:extLst>
            </p:cNvPr>
            <p:cNvSpPr/>
            <p:nvPr/>
          </p:nvSpPr>
          <p:spPr>
            <a:xfrm>
              <a:off x="0" y="0"/>
              <a:ext cx="4816592" cy="2544961"/>
            </a:xfrm>
            <a:custGeom>
              <a:avLst/>
              <a:gdLst/>
              <a:ahLst/>
              <a:cxnLst/>
              <a:rect l="l" t="t" r="r" b="b"/>
              <a:pathLst>
                <a:path w="4816592" h="2544961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6FE7A1F-C03C-4AE2-B7AB-C6F055BABE55}"/>
                </a:ext>
              </a:extLst>
            </p:cNvPr>
            <p:cNvSpPr txBox="1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7C9953B-FE98-4B8C-A279-9D354F2E4DF8}"/>
              </a:ext>
            </a:extLst>
          </p:cNvPr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6DFBEF3-A850-46F1-A037-5B5AC934CA66}"/>
                </a:ext>
              </a:extLst>
            </p:cNvPr>
            <p:cNvSpPr/>
            <p:nvPr/>
          </p:nvSpPr>
          <p:spPr>
            <a:xfrm>
              <a:off x="0" y="0"/>
              <a:ext cx="164373" cy="1234187"/>
            </a:xfrm>
            <a:custGeom>
              <a:avLst/>
              <a:gdLst/>
              <a:ahLst/>
              <a:cxnLst/>
              <a:rect l="l" t="t" r="r" b="b"/>
              <a:pathLst>
                <a:path w="164373" h="1234187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D3D6328-0F34-4C66-8A3B-3B20E4C0891D}"/>
                </a:ext>
              </a:extLst>
            </p:cNvPr>
            <p:cNvSpPr txBox="1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0DA3578A-D23C-48EE-89EE-46E62E691393}"/>
              </a:ext>
            </a:extLst>
          </p:cNvPr>
          <p:cNvGrpSpPr/>
          <p:nvPr/>
        </p:nvGrpSpPr>
        <p:grpSpPr>
          <a:xfrm>
            <a:off x="12490193" y="8708791"/>
            <a:ext cx="6519036" cy="954108"/>
            <a:chOff x="0" y="0"/>
            <a:chExt cx="1716948" cy="251288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32662A0A-9CBD-45F3-88E1-8B36FFC5C135}"/>
                </a:ext>
              </a:extLst>
            </p:cNvPr>
            <p:cNvSpPr/>
            <p:nvPr/>
          </p:nvSpPr>
          <p:spPr>
            <a:xfrm>
              <a:off x="0" y="0"/>
              <a:ext cx="1716948" cy="251288"/>
            </a:xfrm>
            <a:custGeom>
              <a:avLst/>
              <a:gdLst/>
              <a:ahLst/>
              <a:cxnLst/>
              <a:rect l="l" t="t" r="r" b="b"/>
              <a:pathLst>
                <a:path w="1716948" h="25128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2">
              <a:extLst>
                <a:ext uri="{FF2B5EF4-FFF2-40B4-BE49-F238E27FC236}">
                  <a16:creationId xmlns:a16="http://schemas.microsoft.com/office/drawing/2014/main" id="{ED727A19-42F2-4698-AEE0-DA7F69BE5D44}"/>
                </a:ext>
              </a:extLst>
            </p:cNvPr>
            <p:cNvSpPr txBox="1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CF6B36D5-A5D5-45BE-8D69-16F2317F921B}"/>
              </a:ext>
            </a:extLst>
          </p:cNvPr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15ED6093-27E5-4E56-8C0C-363F7E5ABF9C}"/>
                </a:ext>
              </a:extLst>
            </p:cNvPr>
            <p:cNvSpPr/>
            <p:nvPr/>
          </p:nvSpPr>
          <p:spPr>
            <a:xfrm>
              <a:off x="0" y="0"/>
              <a:ext cx="164373" cy="2004904"/>
            </a:xfrm>
            <a:custGeom>
              <a:avLst/>
              <a:gdLst/>
              <a:ahLst/>
              <a:cxnLst/>
              <a:rect l="l" t="t" r="r" b="b"/>
              <a:pathLst>
                <a:path w="164373" h="2004904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1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7F3C6C7E-AC24-4AF2-AD3C-1DD0C58A0FD3}"/>
                </a:ext>
              </a:extLst>
            </p:cNvPr>
            <p:cNvSpPr txBox="1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28">
            <a:extLst>
              <a:ext uri="{FF2B5EF4-FFF2-40B4-BE49-F238E27FC236}">
                <a16:creationId xmlns:a16="http://schemas.microsoft.com/office/drawing/2014/main" id="{4A3B736D-56DC-4854-8BDA-72DAA6724EE0}"/>
              </a:ext>
            </a:extLst>
          </p:cNvPr>
          <p:cNvSpPr txBox="1"/>
          <p:nvPr/>
        </p:nvSpPr>
        <p:spPr>
          <a:xfrm>
            <a:off x="1565187" y="2955024"/>
            <a:ext cx="727798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dirty="0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.</a:t>
            </a: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88E9313D-92E5-46C2-BDF2-42765969F20F}"/>
              </a:ext>
            </a:extLst>
          </p:cNvPr>
          <p:cNvSpPr/>
          <p:nvPr/>
        </p:nvSpPr>
        <p:spPr>
          <a:xfrm>
            <a:off x="171223" y="356309"/>
            <a:ext cx="887151" cy="698631"/>
          </a:xfrm>
          <a:custGeom>
            <a:avLst/>
            <a:gdLst/>
            <a:ahLst/>
            <a:cxnLst/>
            <a:rect l="l" t="t" r="r" b="b"/>
            <a:pathLst>
              <a:path w="887151" h="69863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35236D79-D1F7-4D3A-8B95-40C5794A2DC9}"/>
              </a:ext>
            </a:extLst>
          </p:cNvPr>
          <p:cNvSpPr/>
          <p:nvPr/>
        </p:nvSpPr>
        <p:spPr>
          <a:xfrm>
            <a:off x="15871831" y="616065"/>
            <a:ext cx="1342555" cy="1315704"/>
          </a:xfrm>
          <a:custGeom>
            <a:avLst/>
            <a:gdLst/>
            <a:ahLst/>
            <a:cxnLst/>
            <a:rect l="l" t="t" r="r" b="b"/>
            <a:pathLst>
              <a:path w="1342555" h="1315704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2D7993-35F5-4E33-9F8B-2BF87FD55C38}"/>
              </a:ext>
            </a:extLst>
          </p:cNvPr>
          <p:cNvSpPr txBox="1"/>
          <p:nvPr/>
        </p:nvSpPr>
        <p:spPr>
          <a:xfrm>
            <a:off x="871912" y="1879948"/>
            <a:ext cx="1690020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Database Management for Health Records and Efficient Querying of JSON Data in MongoDB by Chodorow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(2013- Research Gate )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Methodologies/Algorithms used: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NoSQL Database Utilization: MongoDB, a NoSQL database, is employed for managing health records, offering flexibility with its schema-less design and ability to handle diverse data structures inherent in healthcare data.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Indexing Strategies: Implements various indexing techniques, including compound and text indexes, to optimize query performance and ensure efficient access to frequently queried data.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Improved data retrieval times for complex queries compared to relational databases.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Greater flexibility in managing evolving health record schemas.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Requires careful design to optimize performance.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MongoDB's default approach can be challenging for applications that need strong data consistency and integrity.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51EA53E5-2488-4322-B1C3-9428B9D533F7}"/>
              </a:ext>
            </a:extLst>
          </p:cNvPr>
          <p:cNvSpPr txBox="1"/>
          <p:nvPr/>
        </p:nvSpPr>
        <p:spPr>
          <a:xfrm>
            <a:off x="1097703" y="-305530"/>
            <a:ext cx="11769813" cy="1381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4400" dirty="0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58575627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11382</TotalTime>
  <Words>1942</Words>
  <Application>Microsoft Office PowerPoint</Application>
  <PresentationFormat>Custom</PresentationFormat>
  <Paragraphs>311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Segoe UI</vt:lpstr>
      <vt:lpstr>Hero</vt:lpstr>
      <vt:lpstr>Calibri</vt:lpstr>
      <vt:lpstr>Antonio Ultra-Bold</vt:lpstr>
      <vt:lpstr>Andalus</vt:lpstr>
      <vt:lpstr>Arial</vt:lpstr>
      <vt:lpstr>Garamond</vt:lpstr>
      <vt:lpstr>Times New Roman</vt:lpstr>
      <vt:lpstr>Aparajita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Medical Healthcare Presentation</dc:title>
  <dc:creator>Palani</dc:creator>
  <cp:lastModifiedBy>Nivedha Palaniappan</cp:lastModifiedBy>
  <cp:revision>194</cp:revision>
  <dcterms:created xsi:type="dcterms:W3CDTF">2006-08-16T00:00:00Z</dcterms:created>
  <dcterms:modified xsi:type="dcterms:W3CDTF">2024-08-19T06:10:56Z</dcterms:modified>
  <dc:identifier>DAGLUbqw7Vk</dc:identifier>
</cp:coreProperties>
</file>